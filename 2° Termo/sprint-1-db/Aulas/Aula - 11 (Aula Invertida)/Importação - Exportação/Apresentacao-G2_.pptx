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</p:sldIdLst>
  <p:sldSz cx="10080625" cy="567055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7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920" cy="438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18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2.º nível da estrutura de tópicos</a:t>
            </a:r>
          </a:p>
          <a:p>
            <a:pPr marL="1296000" lvl="2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3.º nível da estrutura de tópicos</a:t>
            </a:r>
          </a:p>
          <a:p>
            <a:pPr marL="1728000" lvl="3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4.º nível da estrutura de tópicos</a:t>
            </a:r>
          </a:p>
          <a:p>
            <a:pPr marL="2160000" lvl="4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5.º nível da estrutura de tópicos</a:t>
            </a:r>
          </a:p>
          <a:p>
            <a:pPr marL="2592000" lvl="5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6.º nível da estrutura de tópicos</a:t>
            </a:r>
          </a:p>
          <a:p>
            <a:pPr marL="3024000" lvl="6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576360" y="3013560"/>
            <a:ext cx="9070920" cy="945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3200" b="0" strike="noStrike" spc="-1">
                <a:solidFill>
                  <a:srgbClr val="000000"/>
                </a:solidFill>
                <a:latin typeface="Ubuntu"/>
                <a:ea typeface="DejaVu Sans"/>
              </a:rPr>
              <a:t>Importação e Exportação</a:t>
            </a:r>
            <a:endParaRPr lang="pt-BR" sz="3200" b="0" strike="noStrike" spc="-1">
              <a:latin typeface="Arial"/>
            </a:endParaRPr>
          </a:p>
        </p:txBody>
      </p:sp>
      <p:pic>
        <p:nvPicPr>
          <p:cNvPr id="39" name="Imagem 41"/>
          <p:cNvPicPr/>
          <p:nvPr/>
        </p:nvPicPr>
        <p:blipFill>
          <a:blip r:embed="rId2"/>
          <a:stretch/>
        </p:blipFill>
        <p:spPr>
          <a:xfrm>
            <a:off x="1584000" y="288000"/>
            <a:ext cx="1727280" cy="1727280"/>
          </a:xfrm>
          <a:prstGeom prst="rect">
            <a:avLst/>
          </a:prstGeom>
          <a:ln>
            <a:noFill/>
          </a:ln>
        </p:spPr>
      </p:pic>
      <p:sp>
        <p:nvSpPr>
          <p:cNvPr id="40" name="Line 2"/>
          <p:cNvSpPr/>
          <p:nvPr/>
        </p:nvSpPr>
        <p:spPr>
          <a:xfrm>
            <a:off x="4932000" y="288000"/>
            <a:ext cx="0" cy="165600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1" name="Imagem 43"/>
          <p:cNvPicPr/>
          <p:nvPr/>
        </p:nvPicPr>
        <p:blipFill>
          <a:blip r:embed="rId3"/>
          <a:stretch/>
        </p:blipFill>
        <p:spPr>
          <a:xfrm>
            <a:off x="6006600" y="648000"/>
            <a:ext cx="2164680" cy="1063080"/>
          </a:xfrm>
          <a:prstGeom prst="rect">
            <a:avLst/>
          </a:prstGeom>
          <a:ln>
            <a:noFill/>
          </a:ln>
        </p:spPr>
      </p:pic>
      <p:pic>
        <p:nvPicPr>
          <p:cNvPr id="42" name="Imagem 44"/>
          <p:cNvPicPr/>
          <p:nvPr/>
        </p:nvPicPr>
        <p:blipFill>
          <a:blip r:embed="rId4"/>
          <a:srcRect b="42918"/>
          <a:stretch/>
        </p:blipFill>
        <p:spPr>
          <a:xfrm>
            <a:off x="0" y="4086360"/>
            <a:ext cx="2768400" cy="1582920"/>
          </a:xfrm>
          <a:prstGeom prst="rect">
            <a:avLst/>
          </a:prstGeom>
          <a:ln>
            <a:noFill/>
          </a:ln>
        </p:spPr>
      </p:pic>
      <p:pic>
        <p:nvPicPr>
          <p:cNvPr id="43" name="Imagem 45"/>
          <p:cNvPicPr/>
          <p:nvPr/>
        </p:nvPicPr>
        <p:blipFill>
          <a:blip r:embed="rId4"/>
          <a:srcRect b="42918"/>
          <a:stretch/>
        </p:blipFill>
        <p:spPr>
          <a:xfrm>
            <a:off x="1603440" y="4734000"/>
            <a:ext cx="1635840" cy="935280"/>
          </a:xfrm>
          <a:prstGeom prst="rect">
            <a:avLst/>
          </a:prstGeom>
          <a:ln>
            <a:noFill/>
          </a:ln>
        </p:spPr>
      </p:pic>
      <p:pic>
        <p:nvPicPr>
          <p:cNvPr id="44" name="Imagem 46"/>
          <p:cNvPicPr/>
          <p:nvPr/>
        </p:nvPicPr>
        <p:blipFill>
          <a:blip r:embed="rId5"/>
          <a:srcRect r="49953"/>
          <a:stretch/>
        </p:blipFill>
        <p:spPr>
          <a:xfrm>
            <a:off x="8350200" y="514800"/>
            <a:ext cx="1714680" cy="4570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m 47"/>
          <p:cNvPicPr/>
          <p:nvPr/>
        </p:nvPicPr>
        <p:blipFill>
          <a:blip r:embed="rId2"/>
          <a:srcRect b="42918"/>
          <a:stretch/>
        </p:blipFill>
        <p:spPr>
          <a:xfrm>
            <a:off x="0" y="4086360"/>
            <a:ext cx="2768400" cy="1582920"/>
          </a:xfrm>
          <a:prstGeom prst="rect">
            <a:avLst/>
          </a:prstGeom>
          <a:ln>
            <a:noFill/>
          </a:ln>
        </p:spPr>
      </p:pic>
      <p:pic>
        <p:nvPicPr>
          <p:cNvPr id="46" name="Imagem 48"/>
          <p:cNvPicPr/>
          <p:nvPr/>
        </p:nvPicPr>
        <p:blipFill>
          <a:blip r:embed="rId2"/>
          <a:srcRect b="42918"/>
          <a:stretch/>
        </p:blipFill>
        <p:spPr>
          <a:xfrm>
            <a:off x="1603440" y="4734000"/>
            <a:ext cx="1635840" cy="935280"/>
          </a:xfrm>
          <a:prstGeom prst="rect">
            <a:avLst/>
          </a:prstGeom>
          <a:ln>
            <a:noFill/>
          </a:ln>
        </p:spPr>
      </p:pic>
      <p:pic>
        <p:nvPicPr>
          <p:cNvPr id="47" name="Imagem 49"/>
          <p:cNvPicPr/>
          <p:nvPr/>
        </p:nvPicPr>
        <p:blipFill>
          <a:blip r:embed="rId3"/>
          <a:srcRect r="49953"/>
          <a:stretch/>
        </p:blipFill>
        <p:spPr>
          <a:xfrm>
            <a:off x="8350200" y="514800"/>
            <a:ext cx="1714680" cy="4570920"/>
          </a:xfrm>
          <a:prstGeom prst="rect">
            <a:avLst/>
          </a:prstGeom>
          <a:ln>
            <a:noFill/>
          </a:ln>
        </p:spPr>
      </p:pic>
      <p:pic>
        <p:nvPicPr>
          <p:cNvPr id="48" name="Imagem 50"/>
          <p:cNvPicPr/>
          <p:nvPr/>
        </p:nvPicPr>
        <p:blipFill>
          <a:blip r:embed="rId4"/>
          <a:srcRect t="29457" b="28630"/>
          <a:stretch/>
        </p:blipFill>
        <p:spPr>
          <a:xfrm>
            <a:off x="2322360" y="1440000"/>
            <a:ext cx="5668920" cy="2374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m 51"/>
          <p:cNvPicPr/>
          <p:nvPr/>
        </p:nvPicPr>
        <p:blipFill>
          <a:blip r:embed="rId2"/>
          <a:srcRect b="42918"/>
          <a:stretch/>
        </p:blipFill>
        <p:spPr>
          <a:xfrm>
            <a:off x="0" y="4086360"/>
            <a:ext cx="2768400" cy="1582920"/>
          </a:xfrm>
          <a:prstGeom prst="rect">
            <a:avLst/>
          </a:prstGeom>
          <a:ln>
            <a:noFill/>
          </a:ln>
        </p:spPr>
      </p:pic>
      <p:pic>
        <p:nvPicPr>
          <p:cNvPr id="50" name="Imagem 52"/>
          <p:cNvPicPr/>
          <p:nvPr/>
        </p:nvPicPr>
        <p:blipFill>
          <a:blip r:embed="rId2"/>
          <a:srcRect b="42918"/>
          <a:stretch/>
        </p:blipFill>
        <p:spPr>
          <a:xfrm>
            <a:off x="1603440" y="4734000"/>
            <a:ext cx="1635840" cy="935280"/>
          </a:xfrm>
          <a:prstGeom prst="rect">
            <a:avLst/>
          </a:prstGeom>
          <a:ln>
            <a:noFill/>
          </a:ln>
        </p:spPr>
      </p:pic>
      <p:pic>
        <p:nvPicPr>
          <p:cNvPr id="51" name="Imagem 53"/>
          <p:cNvPicPr/>
          <p:nvPr/>
        </p:nvPicPr>
        <p:blipFill>
          <a:blip r:embed="rId3"/>
          <a:srcRect r="49953"/>
          <a:stretch/>
        </p:blipFill>
        <p:spPr>
          <a:xfrm>
            <a:off x="8350200" y="514800"/>
            <a:ext cx="1714680" cy="4570920"/>
          </a:xfrm>
          <a:prstGeom prst="rect">
            <a:avLst/>
          </a:prstGeom>
          <a:ln>
            <a:noFill/>
          </a:ln>
        </p:spPr>
      </p:pic>
      <p:sp>
        <p:nvSpPr>
          <p:cNvPr id="52" name="CustomShape 1"/>
          <p:cNvSpPr/>
          <p:nvPr/>
        </p:nvSpPr>
        <p:spPr>
          <a:xfrm>
            <a:off x="1512000" y="792000"/>
            <a:ext cx="7343280" cy="3165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sz="1800" b="1" i="1" strike="noStrike" spc="-1">
                <a:solidFill>
                  <a:srgbClr val="000000"/>
                </a:solidFill>
                <a:latin typeface="Ubuntu"/>
                <a:ea typeface="DejaVu Sans"/>
              </a:rPr>
              <a:t>Visão Geral</a:t>
            </a:r>
            <a:endParaRPr lang="pt-BR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Ubuntu"/>
                <a:ea typeface="DejaVu Sans"/>
              </a:rPr>
              <a:t>Exportação em massa se refere à copia de dados de uma tabela SQL Server para um arquivo de dados.</a:t>
            </a:r>
            <a:endParaRPr lang="pt-BR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Ubuntu"/>
                <a:ea typeface="DejaVu Sans"/>
              </a:rPr>
              <a:t>Importação em massa refere-se ao carregamento de dados de um arquivo de dados em uma tabela SQL Server . Por exemplo, você pode exportar dados de um aplicativo Excel do Microsoft para um arquivo de dados e então importar em massa dados em uma tabela do SQL Server.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Imagem 51"/>
          <p:cNvPicPr/>
          <p:nvPr/>
        </p:nvPicPr>
        <p:blipFill>
          <a:blip r:embed="rId2"/>
          <a:srcRect b="42918"/>
          <a:stretch/>
        </p:blipFill>
        <p:spPr>
          <a:xfrm>
            <a:off x="0" y="4086360"/>
            <a:ext cx="2768400" cy="1582920"/>
          </a:xfrm>
          <a:prstGeom prst="rect">
            <a:avLst/>
          </a:prstGeom>
          <a:ln>
            <a:noFill/>
          </a:ln>
        </p:spPr>
      </p:pic>
      <p:pic>
        <p:nvPicPr>
          <p:cNvPr id="69" name="Imagem 52"/>
          <p:cNvPicPr/>
          <p:nvPr/>
        </p:nvPicPr>
        <p:blipFill>
          <a:blip r:embed="rId2"/>
          <a:srcRect b="42918"/>
          <a:stretch/>
        </p:blipFill>
        <p:spPr>
          <a:xfrm>
            <a:off x="1603440" y="4734000"/>
            <a:ext cx="1635840" cy="935280"/>
          </a:xfrm>
          <a:prstGeom prst="rect">
            <a:avLst/>
          </a:prstGeom>
          <a:ln>
            <a:noFill/>
          </a:ln>
        </p:spPr>
      </p:pic>
      <p:pic>
        <p:nvPicPr>
          <p:cNvPr id="70" name="Imagem 53"/>
          <p:cNvPicPr/>
          <p:nvPr/>
        </p:nvPicPr>
        <p:blipFill>
          <a:blip r:embed="rId3"/>
          <a:srcRect r="49953"/>
          <a:stretch/>
        </p:blipFill>
        <p:spPr>
          <a:xfrm>
            <a:off x="8350200" y="514800"/>
            <a:ext cx="1714680" cy="4570920"/>
          </a:xfrm>
          <a:prstGeom prst="rect">
            <a:avLst/>
          </a:prstGeom>
          <a:ln>
            <a:noFill/>
          </a:ln>
        </p:spPr>
      </p:pic>
      <p:sp>
        <p:nvSpPr>
          <p:cNvPr id="71" name="CustomShape 1"/>
          <p:cNvSpPr/>
          <p:nvPr/>
        </p:nvSpPr>
        <p:spPr>
          <a:xfrm>
            <a:off x="1064160" y="919800"/>
            <a:ext cx="7951320" cy="3830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1" i="1" strike="noStrike" spc="-1">
                <a:solidFill>
                  <a:srgbClr val="000000"/>
                </a:solidFill>
                <a:latin typeface="Ubuntu"/>
                <a:ea typeface="DejaVu Sans"/>
              </a:rPr>
              <a:t>Base de Dados e Banco de Dados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 algn="just">
              <a:lnSpc>
                <a:spcPct val="107000"/>
              </a:lnSpc>
              <a:spcAft>
                <a:spcPts val="799"/>
              </a:spcAft>
            </a:pPr>
            <a:r>
              <a:rPr lang="pt-BR" sz="1800" b="0" strike="noStrike" spc="-1">
                <a:solidFill>
                  <a:srgbClr val="000000"/>
                </a:solidFill>
                <a:latin typeface="Ubuntu"/>
                <a:ea typeface="Calibri"/>
              </a:rPr>
              <a:t>O modelo mais próximo de base de dados que conhecemos é o Excel, porém não há segurança para dados armazenados apenas em planilhas. No entanto, é possível relacionar uma base de dados já existente à um banco de dados e vice-versa.</a:t>
            </a:r>
            <a:endParaRPr lang="pt-BR" sz="1800" b="0" strike="noStrike" spc="-1">
              <a:latin typeface="Arial"/>
            </a:endParaRPr>
          </a:p>
          <a:p>
            <a:pPr algn="just">
              <a:lnSpc>
                <a:spcPct val="107000"/>
              </a:lnSpc>
              <a:spcAft>
                <a:spcPts val="799"/>
              </a:spcAft>
            </a:pPr>
            <a:br/>
            <a:r>
              <a:rPr lang="pt-BR" sz="1800" b="0" strike="noStrike" spc="-1">
                <a:solidFill>
                  <a:srgbClr val="000000"/>
                </a:solidFill>
                <a:latin typeface="Ubuntu"/>
                <a:ea typeface="Calibri"/>
              </a:rPr>
              <a:t>Migrar dados de uma base de dados para um banco de dados oferece mais facilidade em acessar, gerenciar e atualizar. Pode-se criptografá-los, criar hierarquia de acessos e relacionar os dados de maneira mais efetiva.</a:t>
            </a:r>
            <a:endParaRPr lang="pt-BR" sz="1800" b="0" strike="noStrike" spc="-1">
              <a:latin typeface="Arial"/>
            </a:endParaRPr>
          </a:p>
          <a:p>
            <a:pPr algn="just">
              <a:lnSpc>
                <a:spcPct val="107000"/>
              </a:lnSpc>
              <a:spcAft>
                <a:spcPts val="799"/>
              </a:spcAft>
            </a:pP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5"/>
          <p:cNvPicPr/>
          <p:nvPr/>
        </p:nvPicPr>
        <p:blipFill>
          <a:blip r:embed="rId2"/>
          <a:srcRect b="42918"/>
          <a:stretch/>
        </p:blipFill>
        <p:spPr>
          <a:xfrm>
            <a:off x="0" y="4086360"/>
            <a:ext cx="2768400" cy="1582920"/>
          </a:xfrm>
          <a:prstGeom prst="rect">
            <a:avLst/>
          </a:prstGeom>
          <a:ln>
            <a:noFill/>
          </a:ln>
        </p:spPr>
      </p:pic>
      <p:pic>
        <p:nvPicPr>
          <p:cNvPr id="54" name="Imagem 56"/>
          <p:cNvPicPr/>
          <p:nvPr/>
        </p:nvPicPr>
        <p:blipFill>
          <a:blip r:embed="rId2"/>
          <a:srcRect b="42918"/>
          <a:stretch/>
        </p:blipFill>
        <p:spPr>
          <a:xfrm>
            <a:off x="1603440" y="4734000"/>
            <a:ext cx="1635840" cy="935280"/>
          </a:xfrm>
          <a:prstGeom prst="rect">
            <a:avLst/>
          </a:prstGeom>
          <a:ln>
            <a:noFill/>
          </a:ln>
        </p:spPr>
      </p:pic>
      <p:pic>
        <p:nvPicPr>
          <p:cNvPr id="55" name="Imagem 57"/>
          <p:cNvPicPr/>
          <p:nvPr/>
        </p:nvPicPr>
        <p:blipFill>
          <a:blip r:embed="rId3"/>
          <a:srcRect r="49953"/>
          <a:stretch/>
        </p:blipFill>
        <p:spPr>
          <a:xfrm>
            <a:off x="8350200" y="514800"/>
            <a:ext cx="1714680" cy="4570920"/>
          </a:xfrm>
          <a:prstGeom prst="rect">
            <a:avLst/>
          </a:prstGeom>
          <a:ln>
            <a:noFill/>
          </a:ln>
        </p:spPr>
      </p:pic>
      <p:pic>
        <p:nvPicPr>
          <p:cNvPr id="56" name="Imagem 58"/>
          <p:cNvPicPr/>
          <p:nvPr/>
        </p:nvPicPr>
        <p:blipFill>
          <a:blip r:embed="rId4"/>
          <a:srcRect l="25560" t="25030" r="18045" b="6358"/>
          <a:stretch/>
        </p:blipFill>
        <p:spPr>
          <a:xfrm>
            <a:off x="3240000" y="864000"/>
            <a:ext cx="5398920" cy="3886920"/>
          </a:xfrm>
          <a:prstGeom prst="rect">
            <a:avLst/>
          </a:prstGeom>
          <a:ln>
            <a:noFill/>
          </a:ln>
        </p:spPr>
      </p:pic>
      <p:sp>
        <p:nvSpPr>
          <p:cNvPr id="57" name="CustomShape 1"/>
          <p:cNvSpPr/>
          <p:nvPr/>
        </p:nvSpPr>
        <p:spPr>
          <a:xfrm>
            <a:off x="432000" y="2232000"/>
            <a:ext cx="2447280" cy="54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Ubuntu"/>
                <a:ea typeface="DejaVu Sans"/>
              </a:rPr>
              <a:t>Métodos de Importação/Exportação</a:t>
            </a:r>
            <a:endParaRPr lang="pt-BR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m 65"/>
          <p:cNvPicPr/>
          <p:nvPr/>
        </p:nvPicPr>
        <p:blipFill>
          <a:blip r:embed="rId2"/>
          <a:srcRect b="42918"/>
          <a:stretch/>
        </p:blipFill>
        <p:spPr>
          <a:xfrm>
            <a:off x="0" y="4086360"/>
            <a:ext cx="2768400" cy="1582920"/>
          </a:xfrm>
          <a:prstGeom prst="rect">
            <a:avLst/>
          </a:prstGeom>
          <a:ln>
            <a:noFill/>
          </a:ln>
        </p:spPr>
      </p:pic>
      <p:pic>
        <p:nvPicPr>
          <p:cNvPr id="59" name="Imagem 66"/>
          <p:cNvPicPr/>
          <p:nvPr/>
        </p:nvPicPr>
        <p:blipFill>
          <a:blip r:embed="rId2"/>
          <a:srcRect b="42918"/>
          <a:stretch/>
        </p:blipFill>
        <p:spPr>
          <a:xfrm>
            <a:off x="1603440" y="4734000"/>
            <a:ext cx="1635840" cy="935280"/>
          </a:xfrm>
          <a:prstGeom prst="rect">
            <a:avLst/>
          </a:prstGeom>
          <a:ln>
            <a:noFill/>
          </a:ln>
        </p:spPr>
      </p:pic>
      <p:pic>
        <p:nvPicPr>
          <p:cNvPr id="60" name="Imagem 67"/>
          <p:cNvPicPr/>
          <p:nvPr/>
        </p:nvPicPr>
        <p:blipFill>
          <a:blip r:embed="rId3"/>
          <a:srcRect r="49953"/>
          <a:stretch/>
        </p:blipFill>
        <p:spPr>
          <a:xfrm>
            <a:off x="8350200" y="514800"/>
            <a:ext cx="1714680" cy="4570920"/>
          </a:xfrm>
          <a:prstGeom prst="rect">
            <a:avLst/>
          </a:prstGeom>
          <a:ln>
            <a:noFill/>
          </a:ln>
        </p:spPr>
      </p:pic>
      <p:sp>
        <p:nvSpPr>
          <p:cNvPr id="61" name="CustomShape 1"/>
          <p:cNvSpPr/>
          <p:nvPr/>
        </p:nvSpPr>
        <p:spPr>
          <a:xfrm>
            <a:off x="1224000" y="1944000"/>
            <a:ext cx="7559280" cy="1371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Ubuntu"/>
                <a:ea typeface="DejaVu Sans"/>
              </a:rPr>
              <a:t> O Assistente de Importação e Exportação é uma maneira simples de copiar dados de uma origem para um destino. Esta visão geral descreve as fontes de dados que o assistente pode usar como origens e destinos, bem como as permissões necessárias para executar o assistente.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62" name="CustomShape 2"/>
          <p:cNvSpPr/>
          <p:nvPr/>
        </p:nvSpPr>
        <p:spPr>
          <a:xfrm>
            <a:off x="1296000" y="1021680"/>
            <a:ext cx="6407280" cy="345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Ubuntu"/>
                <a:ea typeface="DejaVu Sans"/>
              </a:rPr>
              <a:t>Assistente de Importação e Exportação, o que é?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m 70"/>
          <p:cNvPicPr/>
          <p:nvPr/>
        </p:nvPicPr>
        <p:blipFill>
          <a:blip r:embed="rId2"/>
          <a:srcRect b="42918"/>
          <a:stretch/>
        </p:blipFill>
        <p:spPr>
          <a:xfrm>
            <a:off x="0" y="4086360"/>
            <a:ext cx="2768400" cy="1582920"/>
          </a:xfrm>
          <a:prstGeom prst="rect">
            <a:avLst/>
          </a:prstGeom>
          <a:ln>
            <a:noFill/>
          </a:ln>
        </p:spPr>
      </p:pic>
      <p:pic>
        <p:nvPicPr>
          <p:cNvPr id="64" name="Imagem 71"/>
          <p:cNvPicPr/>
          <p:nvPr/>
        </p:nvPicPr>
        <p:blipFill>
          <a:blip r:embed="rId2"/>
          <a:srcRect b="42918"/>
          <a:stretch/>
        </p:blipFill>
        <p:spPr>
          <a:xfrm>
            <a:off x="1603440" y="4734000"/>
            <a:ext cx="1635840" cy="935280"/>
          </a:xfrm>
          <a:prstGeom prst="rect">
            <a:avLst/>
          </a:prstGeom>
          <a:ln>
            <a:noFill/>
          </a:ln>
        </p:spPr>
      </p:pic>
      <p:pic>
        <p:nvPicPr>
          <p:cNvPr id="65" name="Imagem 72"/>
          <p:cNvPicPr/>
          <p:nvPr/>
        </p:nvPicPr>
        <p:blipFill>
          <a:blip r:embed="rId3"/>
          <a:srcRect r="49953"/>
          <a:stretch/>
        </p:blipFill>
        <p:spPr>
          <a:xfrm>
            <a:off x="8350200" y="514800"/>
            <a:ext cx="1714680" cy="4570920"/>
          </a:xfrm>
          <a:prstGeom prst="rect">
            <a:avLst/>
          </a:prstGeom>
          <a:ln>
            <a:noFill/>
          </a:ln>
        </p:spPr>
      </p:pic>
      <p:pic>
        <p:nvPicPr>
          <p:cNvPr id="66" name="Imagem 73"/>
          <p:cNvPicPr/>
          <p:nvPr/>
        </p:nvPicPr>
        <p:blipFill>
          <a:blip r:embed="rId4"/>
          <a:stretch/>
        </p:blipFill>
        <p:spPr>
          <a:xfrm>
            <a:off x="3384000" y="432000"/>
            <a:ext cx="3887280" cy="4510080"/>
          </a:xfrm>
          <a:prstGeom prst="rect">
            <a:avLst/>
          </a:prstGeom>
          <a:ln>
            <a:noFill/>
          </a:ln>
        </p:spPr>
      </p:pic>
      <p:sp>
        <p:nvSpPr>
          <p:cNvPr id="67" name="CustomShape 1"/>
          <p:cNvSpPr/>
          <p:nvPr/>
        </p:nvSpPr>
        <p:spPr>
          <a:xfrm>
            <a:off x="576000" y="1872000"/>
            <a:ext cx="2303280" cy="54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Ubuntu"/>
                <a:ea typeface="DejaVu Sans"/>
              </a:rPr>
              <a:t>Exemplo de importação do Excel:</a:t>
            </a:r>
            <a:endParaRPr lang="pt-BR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Imagem 75"/>
          <p:cNvPicPr/>
          <p:nvPr/>
        </p:nvPicPr>
        <p:blipFill>
          <a:blip r:embed="rId2"/>
          <a:srcRect b="42918"/>
          <a:stretch/>
        </p:blipFill>
        <p:spPr>
          <a:xfrm>
            <a:off x="0" y="4086360"/>
            <a:ext cx="2768400" cy="1582920"/>
          </a:xfrm>
          <a:prstGeom prst="rect">
            <a:avLst/>
          </a:prstGeom>
          <a:ln>
            <a:noFill/>
          </a:ln>
        </p:spPr>
      </p:pic>
      <p:pic>
        <p:nvPicPr>
          <p:cNvPr id="73" name="Imagem 76"/>
          <p:cNvPicPr/>
          <p:nvPr/>
        </p:nvPicPr>
        <p:blipFill>
          <a:blip r:embed="rId2"/>
          <a:srcRect b="42918"/>
          <a:stretch/>
        </p:blipFill>
        <p:spPr>
          <a:xfrm>
            <a:off x="1603440" y="4734000"/>
            <a:ext cx="1635840" cy="935280"/>
          </a:xfrm>
          <a:prstGeom prst="rect">
            <a:avLst/>
          </a:prstGeom>
          <a:ln>
            <a:noFill/>
          </a:ln>
        </p:spPr>
      </p:pic>
      <p:pic>
        <p:nvPicPr>
          <p:cNvPr id="74" name="Imagem 77"/>
          <p:cNvPicPr/>
          <p:nvPr/>
        </p:nvPicPr>
        <p:blipFill>
          <a:blip r:embed="rId3"/>
          <a:srcRect r="49953"/>
          <a:stretch/>
        </p:blipFill>
        <p:spPr>
          <a:xfrm>
            <a:off x="8350200" y="514800"/>
            <a:ext cx="1714680" cy="4570920"/>
          </a:xfrm>
          <a:prstGeom prst="rect">
            <a:avLst/>
          </a:prstGeom>
          <a:ln>
            <a:noFill/>
          </a:ln>
        </p:spPr>
      </p:pic>
      <p:sp>
        <p:nvSpPr>
          <p:cNvPr id="75" name="CustomShape 1"/>
          <p:cNvSpPr/>
          <p:nvPr/>
        </p:nvSpPr>
        <p:spPr>
          <a:xfrm>
            <a:off x="851760" y="1224000"/>
            <a:ext cx="8435520" cy="214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latin typeface="Ubuntu"/>
                <a:ea typeface="DejaVu Sans"/>
              </a:rPr>
              <a:t>Dica importante: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Ubuntu"/>
                <a:ea typeface="DejaVu Sans"/>
              </a:rPr>
              <a:t>Para usar a versão de 64 bits do Assistente de Importação e Exportação do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Ubuntu"/>
                <a:ea typeface="DejaVu Sans"/>
              </a:rPr>
              <a:t>SQL Server, você precisa instalar o SQL Server. O SSDT (SQL Server Data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Ubuntu"/>
                <a:ea typeface="DejaVu Sans"/>
              </a:rPr>
              <a:t>Tools) e o SSMS (SQL Server Management Studio) são aplicativos de 32 bits e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Ubuntu"/>
                <a:ea typeface="DejaVu Sans"/>
              </a:rPr>
              <a:t>somente instalam arquivos de 32 bits, incluindo a versão de 32 bits do assistente.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agem 79"/>
          <p:cNvPicPr/>
          <p:nvPr/>
        </p:nvPicPr>
        <p:blipFill>
          <a:blip r:embed="rId2"/>
          <a:srcRect b="42918"/>
          <a:stretch/>
        </p:blipFill>
        <p:spPr>
          <a:xfrm>
            <a:off x="0" y="4086360"/>
            <a:ext cx="2768400" cy="1582920"/>
          </a:xfrm>
          <a:prstGeom prst="rect">
            <a:avLst/>
          </a:prstGeom>
          <a:ln>
            <a:noFill/>
          </a:ln>
        </p:spPr>
      </p:pic>
      <p:pic>
        <p:nvPicPr>
          <p:cNvPr id="77" name="Imagem 80"/>
          <p:cNvPicPr/>
          <p:nvPr/>
        </p:nvPicPr>
        <p:blipFill>
          <a:blip r:embed="rId2"/>
          <a:srcRect b="42918"/>
          <a:stretch/>
        </p:blipFill>
        <p:spPr>
          <a:xfrm>
            <a:off x="1603440" y="4734000"/>
            <a:ext cx="1635840" cy="935280"/>
          </a:xfrm>
          <a:prstGeom prst="rect">
            <a:avLst/>
          </a:prstGeom>
          <a:ln>
            <a:noFill/>
          </a:ln>
        </p:spPr>
      </p:pic>
      <p:pic>
        <p:nvPicPr>
          <p:cNvPr id="78" name="Imagem 81"/>
          <p:cNvPicPr/>
          <p:nvPr/>
        </p:nvPicPr>
        <p:blipFill>
          <a:blip r:embed="rId3"/>
          <a:srcRect r="49953"/>
          <a:stretch/>
        </p:blipFill>
        <p:spPr>
          <a:xfrm>
            <a:off x="8350200" y="514800"/>
            <a:ext cx="1714680" cy="4570920"/>
          </a:xfrm>
          <a:prstGeom prst="rect">
            <a:avLst/>
          </a:prstGeom>
          <a:ln>
            <a:noFill/>
          </a:ln>
        </p:spPr>
      </p:pic>
      <p:sp>
        <p:nvSpPr>
          <p:cNvPr id="79" name="CustomShape 1"/>
          <p:cNvSpPr/>
          <p:nvPr/>
        </p:nvSpPr>
        <p:spPr>
          <a:xfrm>
            <a:off x="1728000" y="2088000"/>
            <a:ext cx="6407640" cy="657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4000" b="1" strike="noStrike" spc="-1">
                <a:latin typeface="Arial"/>
              </a:rPr>
              <a:t>Demonstração</a:t>
            </a:r>
            <a:endParaRPr lang="pt-BR" sz="4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303</Words>
  <Application>Microsoft Office PowerPoint</Application>
  <PresentationFormat>Personalizar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Symbol</vt:lpstr>
      <vt:lpstr>Ubuntu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Darth Vader</dc:creator>
  <dc:description/>
  <cp:lastModifiedBy>ERIKA LEITE PAIVA -  -</cp:lastModifiedBy>
  <cp:revision>10</cp:revision>
  <dcterms:created xsi:type="dcterms:W3CDTF">2021-03-04T10:55:49Z</dcterms:created>
  <dcterms:modified xsi:type="dcterms:W3CDTF">2021-03-08T10:56:07Z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Personalizar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12</vt:i4>
  </property>
</Properties>
</file>