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handoutMasterIdLst>
    <p:handoutMasterId r:id="rId34"/>
  </p:handoutMasterIdLst>
  <p:sldIdLst>
    <p:sldId id="257" r:id="rId5"/>
    <p:sldId id="258" r:id="rId6"/>
    <p:sldId id="344" r:id="rId7"/>
    <p:sldId id="345" r:id="rId8"/>
    <p:sldId id="347" r:id="rId9"/>
    <p:sldId id="349" r:id="rId10"/>
    <p:sldId id="350" r:id="rId11"/>
    <p:sldId id="351" r:id="rId12"/>
    <p:sldId id="352" r:id="rId13"/>
    <p:sldId id="353" r:id="rId14"/>
    <p:sldId id="355" r:id="rId15"/>
    <p:sldId id="371" r:id="rId16"/>
    <p:sldId id="359" r:id="rId17"/>
    <p:sldId id="372" r:id="rId18"/>
    <p:sldId id="370" r:id="rId19"/>
    <p:sldId id="373" r:id="rId20"/>
    <p:sldId id="360" r:id="rId21"/>
    <p:sldId id="374" r:id="rId22"/>
    <p:sldId id="375" r:id="rId23"/>
    <p:sldId id="361" r:id="rId24"/>
    <p:sldId id="362" r:id="rId25"/>
    <p:sldId id="363" r:id="rId26"/>
    <p:sldId id="364" r:id="rId27"/>
    <p:sldId id="365" r:id="rId28"/>
    <p:sldId id="367" r:id="rId29"/>
    <p:sldId id="368" r:id="rId30"/>
    <p:sldId id="369" r:id="rId31"/>
    <p:sldId id="366" r:id="rId32"/>
    <p:sldId id="259" r:id="rId33"/>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94660"/>
  </p:normalViewPr>
  <p:slideViewPr>
    <p:cSldViewPr snapToGrid="0">
      <p:cViewPr varScale="1">
        <p:scale>
          <a:sx n="86" d="100"/>
          <a:sy n="86" d="100"/>
        </p:scale>
        <p:origin x="1387" y="72"/>
      </p:cViewPr>
      <p:guideLst/>
    </p:cSldViewPr>
  </p:slideViewPr>
  <p:notesTextViewPr>
    <p:cViewPr>
      <p:scale>
        <a:sx n="1" d="1"/>
        <a:sy n="1" d="1"/>
      </p:scale>
      <p:origin x="0" y="0"/>
    </p:cViewPr>
  </p:notesText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363B5EF-C2FE-4558-B393-3D874534693D}" type="datetimeFigureOut">
              <a:rPr lang="pt-BR" smtClean="0"/>
              <a:t>27/01/2021</a:t>
            </a:fld>
            <a:endParaRPr lang="pt-BR"/>
          </a:p>
        </p:txBody>
      </p:sp>
      <p:sp>
        <p:nvSpPr>
          <p:cNvPr id="4" name="Espaço Reservado para Rodapé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2073819-5A30-4F19-9478-4C43B8673DB5}" type="slidenum">
              <a:rPr lang="pt-BR" smtClean="0"/>
              <a:t>‹nº›</a:t>
            </a:fld>
            <a:endParaRPr lang="pt-BR"/>
          </a:p>
        </p:txBody>
      </p:sp>
    </p:spTree>
    <p:extLst>
      <p:ext uri="{BB962C8B-B14F-4D97-AF65-F5344CB8AC3E}">
        <p14:creationId xmlns:p14="http://schemas.microsoft.com/office/powerpoint/2010/main" val="36784155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pic>
        <p:nvPicPr>
          <p:cNvPr id="26" name="Imagem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54240" y="9207"/>
            <a:ext cx="1889760" cy="6848793"/>
          </a:xfrm>
          <a:prstGeom prst="rect">
            <a:avLst/>
          </a:prstGeom>
        </p:spPr>
      </p:pic>
      <p:sp>
        <p:nvSpPr>
          <p:cNvPr id="4" name="Date Placeholder 3"/>
          <p:cNvSpPr>
            <a:spLocks noGrp="1"/>
          </p:cNvSpPr>
          <p:nvPr>
            <p:ph type="dt" sz="half" idx="10"/>
          </p:nvPr>
        </p:nvSpPr>
        <p:spPr/>
        <p:txBody>
          <a:bodyPr/>
          <a:lstStyle/>
          <a:p>
            <a:fld id="{5193A530-045E-4FBC-827D-EE4599172689}" type="datetimeFigureOut">
              <a:rPr lang="pt-BR" smtClean="0"/>
              <a:t>27/01/2021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F4F3CB9-74B1-48EC-825B-4175542E3717}" type="slidenum">
              <a:rPr lang="pt-BR" smtClean="0"/>
              <a:t>‹nº›</a:t>
            </a:fld>
            <a:endParaRPr lang="pt-BR"/>
          </a:p>
        </p:txBody>
      </p:sp>
      <p:sp>
        <p:nvSpPr>
          <p:cNvPr id="22" name="Espaço Reservado para Texto 1"/>
          <p:cNvSpPr txBox="1">
            <a:spLocks/>
          </p:cNvSpPr>
          <p:nvPr userDrawn="1"/>
        </p:nvSpPr>
        <p:spPr>
          <a:xfrm>
            <a:off x="1785060" y="2074736"/>
            <a:ext cx="8915514" cy="70788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4400" b="1" kern="1200">
                <a:solidFill>
                  <a:schemeClr val="tx1">
                    <a:lumMod val="75000"/>
                    <a:lumOff val="25000"/>
                  </a:schemeClr>
                </a:solidFill>
                <a:latin typeface="Montserrat"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pt-BR" sz="4400" b="1" i="0" u="none" strike="noStrike" kern="1200" cap="none" spc="0" normalizeH="0" baseline="0" noProof="0" dirty="0">
              <a:ln>
                <a:noFill/>
              </a:ln>
              <a:solidFill>
                <a:sysClr val="windowText" lastClr="000000">
                  <a:lumMod val="75000"/>
                  <a:lumOff val="25000"/>
                </a:sysClr>
              </a:solidFill>
              <a:effectLst/>
              <a:uLnTx/>
              <a:uFillTx/>
              <a:latin typeface="Montserrat" panose="00000500000000000000" pitchFamily="2" charset="0"/>
              <a:ea typeface="+mn-ea"/>
              <a:cs typeface="+mn-cs"/>
            </a:endParaRPr>
          </a:p>
        </p:txBody>
      </p:sp>
      <p:sp>
        <p:nvSpPr>
          <p:cNvPr id="23" name="Espaço Reservado para Texto 14">
            <a:extLst>
              <a:ext uri="{FF2B5EF4-FFF2-40B4-BE49-F238E27FC236}">
                <a16:creationId xmlns:a16="http://schemas.microsoft.com/office/drawing/2014/main" id="{741322F5-93ED-4D68-A8FF-9359DF6E751A}"/>
              </a:ext>
            </a:extLst>
          </p:cNvPr>
          <p:cNvSpPr>
            <a:spLocks noGrp="1"/>
          </p:cNvSpPr>
          <p:nvPr>
            <p:ph type="body" sz="quarter" idx="13" hasCustomPrompt="1"/>
          </p:nvPr>
        </p:nvSpPr>
        <p:spPr>
          <a:xfrm>
            <a:off x="629360" y="2105480"/>
            <a:ext cx="7885990" cy="707886"/>
          </a:xfrm>
          <a:prstGeom prst="rect">
            <a:avLst/>
          </a:prstGeom>
        </p:spPr>
        <p:txBody>
          <a:bodyPr/>
          <a:lstStyle>
            <a:lvl1pPr marL="0" indent="0">
              <a:buNone/>
              <a:defRPr sz="4400" b="1">
                <a:solidFill>
                  <a:schemeClr val="tx1">
                    <a:lumMod val="75000"/>
                    <a:lumOff val="25000"/>
                  </a:schemeClr>
                </a:solidFill>
                <a:latin typeface="Montserrat" panose="00000500000000000000" pitchFamily="2" charset="0"/>
              </a:defRPr>
            </a:lvl1pPr>
            <a:lvl2pPr>
              <a:defRPr sz="3200"/>
            </a:lvl2pPr>
            <a:lvl3pPr>
              <a:defRPr sz="2800"/>
            </a:lvl3pPr>
            <a:lvl4pPr>
              <a:defRPr sz="2400"/>
            </a:lvl4pPr>
            <a:lvl5pPr>
              <a:defRPr sz="2400"/>
            </a:lvl5pPr>
          </a:lstStyle>
          <a:p>
            <a:pPr lvl="0"/>
            <a:r>
              <a:rPr lang="pt-BR" dirty="0"/>
              <a:t>Digitar seu título aqui</a:t>
            </a:r>
          </a:p>
        </p:txBody>
      </p:sp>
      <p:sp>
        <p:nvSpPr>
          <p:cNvPr id="24" name="Espaço Reservado para Texto 16">
            <a:extLst>
              <a:ext uri="{FF2B5EF4-FFF2-40B4-BE49-F238E27FC236}">
                <a16:creationId xmlns:a16="http://schemas.microsoft.com/office/drawing/2014/main" id="{2B77ECB5-455F-48E1-AC6C-CB94B5AD6A0B}"/>
              </a:ext>
            </a:extLst>
          </p:cNvPr>
          <p:cNvSpPr>
            <a:spLocks noGrp="1"/>
          </p:cNvSpPr>
          <p:nvPr>
            <p:ph type="body" sz="quarter" idx="14" hasCustomPrompt="1"/>
          </p:nvPr>
        </p:nvSpPr>
        <p:spPr>
          <a:xfrm>
            <a:off x="628650" y="2923854"/>
            <a:ext cx="4300401" cy="437655"/>
          </a:xfrm>
          <a:prstGeom prst="rect">
            <a:avLst/>
          </a:prstGeom>
        </p:spPr>
        <p:txBody>
          <a:bodyPr/>
          <a:lstStyle>
            <a:lvl1pPr marL="0" indent="0">
              <a:buNone/>
              <a:defRPr sz="2000" b="1">
                <a:solidFill>
                  <a:srgbClr val="E51E3C"/>
                </a:solidFill>
                <a:latin typeface="Montserrat" panose="00000500000000000000" pitchFamily="2" charset="0"/>
              </a:defRPr>
            </a:lvl1pPr>
          </a:lstStyle>
          <a:p>
            <a:pPr lvl="0"/>
            <a:r>
              <a:rPr lang="pt-BR" dirty="0"/>
              <a:t>Digitar seu subtítulo aqui</a:t>
            </a:r>
          </a:p>
        </p:txBody>
      </p:sp>
      <p:sp>
        <p:nvSpPr>
          <p:cNvPr id="25" name="Espaço Reservado para Texto 18">
            <a:extLst>
              <a:ext uri="{FF2B5EF4-FFF2-40B4-BE49-F238E27FC236}">
                <a16:creationId xmlns:a16="http://schemas.microsoft.com/office/drawing/2014/main" id="{94A25BC8-06B9-4702-900E-C725EC898475}"/>
              </a:ext>
            </a:extLst>
          </p:cNvPr>
          <p:cNvSpPr>
            <a:spLocks noGrp="1"/>
          </p:cNvSpPr>
          <p:nvPr>
            <p:ph type="body" sz="quarter" idx="15" hasCustomPrompt="1"/>
          </p:nvPr>
        </p:nvSpPr>
        <p:spPr>
          <a:xfrm>
            <a:off x="628650" y="3471997"/>
            <a:ext cx="7886700" cy="8997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solidFill>
                  <a:schemeClr val="tx1">
                    <a:lumMod val="65000"/>
                    <a:lumOff val="35000"/>
                  </a:schemeClr>
                </a:solidFill>
                <a:latin typeface="Montserrat" panose="00000500000000000000" pitchFamily="2" charset="0"/>
              </a:defRPr>
            </a:lvl1pPr>
          </a:lstStyle>
          <a:p>
            <a:r>
              <a:rPr lang="pt-BR" sz="2000" dirty="0">
                <a:solidFill>
                  <a:schemeClr val="tx1">
                    <a:lumMod val="65000"/>
                    <a:lumOff val="35000"/>
                  </a:schemeClr>
                </a:solidFill>
                <a:latin typeface="Montserrat" pitchFamily="2" charset="77"/>
              </a:rPr>
              <a:t>At vero </a:t>
            </a:r>
            <a:r>
              <a:rPr lang="pt-BR" sz="2000" dirty="0" err="1">
                <a:solidFill>
                  <a:schemeClr val="tx1">
                    <a:lumMod val="65000"/>
                    <a:lumOff val="35000"/>
                  </a:schemeClr>
                </a:solidFill>
                <a:latin typeface="Montserrat" pitchFamily="2" charset="77"/>
              </a:rPr>
              <a:t>eos</a:t>
            </a:r>
            <a:r>
              <a:rPr lang="pt-BR" sz="2000" dirty="0">
                <a:solidFill>
                  <a:schemeClr val="tx1">
                    <a:lumMod val="65000"/>
                    <a:lumOff val="35000"/>
                  </a:schemeClr>
                </a:solidFill>
                <a:latin typeface="Montserrat" pitchFamily="2" charset="77"/>
              </a:rPr>
              <a:t> et </a:t>
            </a:r>
            <a:r>
              <a:rPr lang="pt-BR" sz="2000" dirty="0" err="1">
                <a:solidFill>
                  <a:schemeClr val="tx1">
                    <a:lumMod val="65000"/>
                    <a:lumOff val="35000"/>
                  </a:schemeClr>
                </a:solidFill>
                <a:latin typeface="Montserrat" pitchFamily="2" charset="77"/>
              </a:rPr>
              <a:t>accusamus</a:t>
            </a:r>
            <a:r>
              <a:rPr lang="pt-BR" sz="2000" dirty="0">
                <a:solidFill>
                  <a:schemeClr val="tx1">
                    <a:lumMod val="65000"/>
                    <a:lumOff val="35000"/>
                  </a:schemeClr>
                </a:solidFill>
                <a:latin typeface="Montserrat" pitchFamily="2" charset="77"/>
              </a:rPr>
              <a:t> et </a:t>
            </a:r>
            <a:r>
              <a:rPr lang="pt-BR" sz="2000" dirty="0" err="1">
                <a:solidFill>
                  <a:schemeClr val="tx1">
                    <a:lumMod val="65000"/>
                    <a:lumOff val="35000"/>
                  </a:schemeClr>
                </a:solidFill>
                <a:latin typeface="Montserrat" pitchFamily="2" charset="77"/>
              </a:rPr>
              <a:t>iusto</a:t>
            </a:r>
            <a:r>
              <a:rPr lang="pt-BR" sz="2000" dirty="0">
                <a:solidFill>
                  <a:schemeClr val="tx1">
                    <a:lumMod val="65000"/>
                    <a:lumOff val="35000"/>
                  </a:schemeClr>
                </a:solidFill>
                <a:latin typeface="Montserrat" pitchFamily="2" charset="77"/>
              </a:rPr>
              <a:t> </a:t>
            </a:r>
            <a:r>
              <a:rPr lang="pt-BR" sz="2000" dirty="0" err="1">
                <a:solidFill>
                  <a:schemeClr val="tx1">
                    <a:lumMod val="65000"/>
                    <a:lumOff val="35000"/>
                  </a:schemeClr>
                </a:solidFill>
                <a:latin typeface="Montserrat" pitchFamily="2" charset="77"/>
              </a:rPr>
              <a:t>odio</a:t>
            </a:r>
            <a:r>
              <a:rPr lang="pt-BR" sz="2000" dirty="0">
                <a:solidFill>
                  <a:schemeClr val="tx1">
                    <a:lumMod val="65000"/>
                    <a:lumOff val="35000"/>
                  </a:schemeClr>
                </a:solidFill>
                <a:latin typeface="Montserrat" pitchFamily="2" charset="77"/>
              </a:rPr>
              <a:t> </a:t>
            </a:r>
            <a:r>
              <a:rPr lang="pt-BR" sz="2000" dirty="0" err="1">
                <a:solidFill>
                  <a:schemeClr val="tx1">
                    <a:lumMod val="65000"/>
                    <a:lumOff val="35000"/>
                  </a:schemeClr>
                </a:solidFill>
                <a:latin typeface="Montserrat" pitchFamily="2" charset="77"/>
              </a:rPr>
              <a:t>dignissimos</a:t>
            </a:r>
            <a:endParaRPr lang="pt-BR" sz="2000" dirty="0">
              <a:solidFill>
                <a:schemeClr val="tx1">
                  <a:lumMod val="65000"/>
                  <a:lumOff val="35000"/>
                </a:schemeClr>
              </a:solidFill>
              <a:latin typeface="Montserrat" pitchFamily="2" charset="77"/>
            </a:endParaRPr>
          </a:p>
          <a:p>
            <a:r>
              <a:rPr lang="pt-BR" sz="2000" dirty="0" err="1">
                <a:solidFill>
                  <a:schemeClr val="tx1">
                    <a:lumMod val="65000"/>
                    <a:lumOff val="35000"/>
                  </a:schemeClr>
                </a:solidFill>
                <a:latin typeface="Montserrat" pitchFamily="2" charset="77"/>
              </a:rPr>
              <a:t>praesentium</a:t>
            </a:r>
            <a:r>
              <a:rPr lang="pt-BR" sz="2000" dirty="0">
                <a:solidFill>
                  <a:schemeClr val="tx1">
                    <a:lumMod val="65000"/>
                    <a:lumOff val="35000"/>
                  </a:schemeClr>
                </a:solidFill>
                <a:latin typeface="Montserrat" pitchFamily="2" charset="77"/>
              </a:rPr>
              <a:t> </a:t>
            </a:r>
            <a:r>
              <a:rPr lang="pt-BR" sz="2000" dirty="0" err="1">
                <a:solidFill>
                  <a:schemeClr val="tx1">
                    <a:lumMod val="65000"/>
                    <a:lumOff val="35000"/>
                  </a:schemeClr>
                </a:solidFill>
                <a:latin typeface="Montserrat" pitchFamily="2" charset="77"/>
              </a:rPr>
              <a:t>voluptatum</a:t>
            </a:r>
            <a:r>
              <a:rPr lang="pt-BR" sz="2000" dirty="0">
                <a:solidFill>
                  <a:schemeClr val="tx1">
                    <a:lumMod val="65000"/>
                    <a:lumOff val="35000"/>
                  </a:schemeClr>
                </a:solidFill>
                <a:latin typeface="Montserrat" pitchFamily="2" charset="77"/>
              </a:rPr>
              <a:t> </a:t>
            </a:r>
            <a:r>
              <a:rPr lang="pt-BR" sz="2000" dirty="0" err="1">
                <a:solidFill>
                  <a:schemeClr val="tx1">
                    <a:lumMod val="65000"/>
                    <a:lumOff val="35000"/>
                  </a:schemeClr>
                </a:solidFill>
                <a:latin typeface="Montserrat" pitchFamily="2" charset="77"/>
              </a:rPr>
              <a:t>deleniti</a:t>
            </a:r>
            <a:r>
              <a:rPr lang="pt-BR" sz="2000" dirty="0">
                <a:solidFill>
                  <a:schemeClr val="tx1">
                    <a:lumMod val="65000"/>
                    <a:lumOff val="35000"/>
                  </a:schemeClr>
                </a:solidFill>
                <a:latin typeface="Montserrat" pitchFamily="2" charset="77"/>
              </a:rPr>
              <a:t> </a:t>
            </a:r>
            <a:r>
              <a:rPr lang="pt-BR" sz="2000" dirty="0" err="1">
                <a:solidFill>
                  <a:schemeClr val="tx1">
                    <a:lumMod val="65000"/>
                    <a:lumOff val="35000"/>
                  </a:schemeClr>
                </a:solidFill>
                <a:latin typeface="Montserrat" pitchFamily="2" charset="77"/>
              </a:rPr>
              <a:t>atque</a:t>
            </a:r>
            <a:r>
              <a:rPr lang="pt-BR" sz="2000" dirty="0">
                <a:solidFill>
                  <a:schemeClr val="tx1">
                    <a:lumMod val="65000"/>
                    <a:lumOff val="35000"/>
                  </a:schemeClr>
                </a:solidFill>
                <a:latin typeface="Montserrat" pitchFamily="2" charset="77"/>
              </a:rPr>
              <a:t>.</a:t>
            </a:r>
          </a:p>
          <a:p>
            <a:pPr lvl="0"/>
            <a:r>
              <a:rPr lang="pt-BR" dirty="0"/>
              <a:t> </a:t>
            </a:r>
          </a:p>
        </p:txBody>
      </p:sp>
      <p:pic>
        <p:nvPicPr>
          <p:cNvPr id="27" name="Imagem 2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66666" y="5932891"/>
            <a:ext cx="1448684" cy="488143"/>
          </a:xfrm>
          <a:prstGeom prst="rect">
            <a:avLst/>
          </a:prstGeom>
        </p:spPr>
      </p:pic>
    </p:spTree>
    <p:extLst>
      <p:ext uri="{BB962C8B-B14F-4D97-AF65-F5344CB8AC3E}">
        <p14:creationId xmlns:p14="http://schemas.microsoft.com/office/powerpoint/2010/main" val="1133279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pic>
        <p:nvPicPr>
          <p:cNvPr id="8" name="Imagem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54240" y="9207"/>
            <a:ext cx="1889760" cy="6848793"/>
          </a:xfrm>
          <a:prstGeom prst="rect">
            <a:avLst/>
          </a:prstGeom>
        </p:spPr>
      </p:pic>
      <p:sp>
        <p:nvSpPr>
          <p:cNvPr id="3" name="Content Placeholder 2"/>
          <p:cNvSpPr>
            <a:spLocks noGrp="1"/>
          </p:cNvSpPr>
          <p:nvPr>
            <p:ph idx="1"/>
          </p:nvPr>
        </p:nvSpPr>
        <p:spPr>
          <a:xfrm>
            <a:off x="628650" y="1140823"/>
            <a:ext cx="7886700" cy="5036140"/>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endParaRPr lang="en-US" dirty="0"/>
          </a:p>
        </p:txBody>
      </p:sp>
      <p:sp>
        <p:nvSpPr>
          <p:cNvPr id="4" name="Date Placeholder 3"/>
          <p:cNvSpPr>
            <a:spLocks noGrp="1"/>
          </p:cNvSpPr>
          <p:nvPr>
            <p:ph type="dt" sz="half" idx="10"/>
          </p:nvPr>
        </p:nvSpPr>
        <p:spPr/>
        <p:txBody>
          <a:bodyPr/>
          <a:lstStyle/>
          <a:p>
            <a:fld id="{5193A530-045E-4FBC-827D-EE4599172689}" type="datetimeFigureOut">
              <a:rPr lang="pt-BR" smtClean="0"/>
              <a:t>27/01/2021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F4F3CB9-74B1-48EC-825B-4175542E3717}" type="slidenum">
              <a:rPr lang="pt-BR" smtClean="0"/>
              <a:t>‹nº›</a:t>
            </a:fld>
            <a:endParaRPr lang="pt-BR"/>
          </a:p>
        </p:txBody>
      </p:sp>
      <p:sp>
        <p:nvSpPr>
          <p:cNvPr id="7" name="Espaço Reservado para Texto 14">
            <a:extLst>
              <a:ext uri="{FF2B5EF4-FFF2-40B4-BE49-F238E27FC236}">
                <a16:creationId xmlns:a16="http://schemas.microsoft.com/office/drawing/2014/main" id="{E8B551AC-1062-45BF-8F6C-49BD2028664E}"/>
              </a:ext>
            </a:extLst>
          </p:cNvPr>
          <p:cNvSpPr>
            <a:spLocks noGrp="1"/>
          </p:cNvSpPr>
          <p:nvPr>
            <p:ph type="body" sz="quarter" idx="13" hasCustomPrompt="1"/>
          </p:nvPr>
        </p:nvSpPr>
        <p:spPr>
          <a:xfrm>
            <a:off x="628649" y="365126"/>
            <a:ext cx="7886701" cy="566691"/>
          </a:xfrm>
          <a:prstGeom prst="rect">
            <a:avLst/>
          </a:prstGeom>
        </p:spPr>
        <p:txBody>
          <a:bodyPr/>
          <a:lstStyle>
            <a:lvl1pPr marL="0" indent="0">
              <a:buNone/>
              <a:defRPr sz="3600" b="1">
                <a:solidFill>
                  <a:schemeClr val="tx1">
                    <a:lumMod val="75000"/>
                    <a:lumOff val="25000"/>
                  </a:schemeClr>
                </a:solidFill>
                <a:latin typeface="Montserrat" panose="00000500000000000000" pitchFamily="2" charset="0"/>
              </a:defRPr>
            </a:lvl1pPr>
            <a:lvl2pPr>
              <a:defRPr sz="3200"/>
            </a:lvl2pPr>
            <a:lvl3pPr>
              <a:defRPr sz="2800"/>
            </a:lvl3pPr>
            <a:lvl4pPr>
              <a:defRPr sz="2400"/>
            </a:lvl4pPr>
            <a:lvl5pPr>
              <a:defRPr sz="2400"/>
            </a:lvl5pPr>
          </a:lstStyle>
          <a:p>
            <a:pPr lvl="0"/>
            <a:r>
              <a:rPr lang="pt-BR" dirty="0"/>
              <a:t>Digitar seu título aqui nesse campo</a:t>
            </a:r>
          </a:p>
        </p:txBody>
      </p:sp>
      <p:pic>
        <p:nvPicPr>
          <p:cNvPr id="9" name="Imagem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66666" y="5932891"/>
            <a:ext cx="1448684" cy="488143"/>
          </a:xfrm>
          <a:prstGeom prst="rect">
            <a:avLst/>
          </a:prstGeom>
        </p:spPr>
      </p:pic>
    </p:spTree>
    <p:extLst>
      <p:ext uri="{BB962C8B-B14F-4D97-AF65-F5344CB8AC3E}">
        <p14:creationId xmlns:p14="http://schemas.microsoft.com/office/powerpoint/2010/main" val="2222923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beçalho da Seçã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193A530-045E-4FBC-827D-EE4599172689}" type="datetimeFigureOut">
              <a:rPr lang="pt-BR" smtClean="0"/>
              <a:t>27/01/2021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F4F3CB9-74B1-48EC-825B-4175542E3717}" type="slidenum">
              <a:rPr lang="pt-BR" smtClean="0"/>
              <a:t>‹nº›</a:t>
            </a:fld>
            <a:endParaRPr lang="pt-BR"/>
          </a:p>
        </p:txBody>
      </p:sp>
      <p:sp>
        <p:nvSpPr>
          <p:cNvPr id="7" name="Espaço Reservado para Texto 14">
            <a:extLst>
              <a:ext uri="{FF2B5EF4-FFF2-40B4-BE49-F238E27FC236}">
                <a16:creationId xmlns:a16="http://schemas.microsoft.com/office/drawing/2014/main" id="{4AD7BF10-3B9A-4CAF-A211-E259F6A5860E}"/>
              </a:ext>
            </a:extLst>
          </p:cNvPr>
          <p:cNvSpPr>
            <a:spLocks noGrp="1"/>
          </p:cNvSpPr>
          <p:nvPr>
            <p:ph type="body" sz="quarter" idx="16" hasCustomPrompt="1"/>
          </p:nvPr>
        </p:nvSpPr>
        <p:spPr>
          <a:xfrm>
            <a:off x="628650" y="2620605"/>
            <a:ext cx="8358596" cy="1884520"/>
          </a:xfrm>
          <a:prstGeom prst="rect">
            <a:avLst/>
          </a:prstGeom>
        </p:spPr>
        <p:txBody>
          <a:bodyPr/>
          <a:lstStyle>
            <a:lvl1pPr marL="0" indent="0">
              <a:buNone/>
              <a:defRPr sz="7200" b="1">
                <a:solidFill>
                  <a:schemeClr val="bg1"/>
                </a:solidFill>
                <a:latin typeface="Montserrat" panose="00000500000000000000" pitchFamily="2" charset="0"/>
              </a:defRPr>
            </a:lvl1pPr>
          </a:lstStyle>
          <a:p>
            <a:pPr lvl="0"/>
            <a:r>
              <a:rPr lang="pt-BR" dirty="0"/>
              <a:t>Loren Ipsum </a:t>
            </a:r>
            <a:r>
              <a:rPr lang="pt-BR" dirty="0" err="1"/>
              <a:t>Dolor</a:t>
            </a:r>
            <a:r>
              <a:rPr lang="pt-BR" dirty="0"/>
              <a:t> </a:t>
            </a:r>
            <a:r>
              <a:rPr lang="pt-BR" dirty="0" err="1"/>
              <a:t>Sit</a:t>
            </a:r>
            <a:r>
              <a:rPr lang="pt-BR" dirty="0"/>
              <a:t> </a:t>
            </a:r>
            <a:r>
              <a:rPr lang="pt-BR" dirty="0" err="1"/>
              <a:t>Daef</a:t>
            </a:r>
            <a:endParaRPr lang="pt-BR" dirty="0"/>
          </a:p>
        </p:txBody>
      </p:sp>
      <p:sp>
        <p:nvSpPr>
          <p:cNvPr id="8" name="Espaço Reservado para Texto 16">
            <a:extLst>
              <a:ext uri="{FF2B5EF4-FFF2-40B4-BE49-F238E27FC236}">
                <a16:creationId xmlns:a16="http://schemas.microsoft.com/office/drawing/2014/main" id="{C9666645-D8A0-4DFC-AED3-612867001E0E}"/>
              </a:ext>
            </a:extLst>
          </p:cNvPr>
          <p:cNvSpPr>
            <a:spLocks noGrp="1"/>
          </p:cNvSpPr>
          <p:nvPr>
            <p:ph type="body" sz="quarter" idx="17" hasCustomPrompt="1"/>
          </p:nvPr>
        </p:nvSpPr>
        <p:spPr>
          <a:xfrm>
            <a:off x="628650" y="2176138"/>
            <a:ext cx="8358596" cy="302110"/>
          </a:xfrm>
          <a:prstGeom prst="rect">
            <a:avLst/>
          </a:prstGeom>
        </p:spPr>
        <p:txBody>
          <a:bodyPr/>
          <a:lstStyle>
            <a:lvl1pPr marL="0" indent="0">
              <a:buNone/>
              <a:defRPr sz="1800" b="1">
                <a:solidFill>
                  <a:schemeClr val="bg1"/>
                </a:solidFill>
                <a:latin typeface="Montserrat" panose="00000500000000000000" pitchFamily="2" charset="0"/>
              </a:defRPr>
            </a:lvl1pPr>
          </a:lstStyle>
          <a:p>
            <a:pPr lvl="0"/>
            <a:r>
              <a:rPr lang="pt-BR" dirty="0">
                <a:latin typeface="Montserrat" panose="00000500000000000000" pitchFamily="2" charset="0"/>
              </a:rPr>
              <a:t>Et vero et </a:t>
            </a:r>
            <a:r>
              <a:rPr lang="pt-BR" dirty="0" err="1">
                <a:latin typeface="Montserrat" panose="00000500000000000000" pitchFamily="2" charset="0"/>
              </a:rPr>
              <a:t>iusto</a:t>
            </a:r>
            <a:r>
              <a:rPr lang="pt-BR" dirty="0">
                <a:latin typeface="Montserrat" panose="00000500000000000000" pitchFamily="2" charset="0"/>
              </a:rPr>
              <a:t> </a:t>
            </a:r>
            <a:r>
              <a:rPr lang="pt-BR" dirty="0" err="1">
                <a:latin typeface="Montserrat" panose="00000500000000000000" pitchFamily="2" charset="0"/>
              </a:rPr>
              <a:t>efsd</a:t>
            </a:r>
            <a:r>
              <a:rPr lang="pt-BR" dirty="0">
                <a:latin typeface="Montserrat" panose="00000500000000000000" pitchFamily="2" charset="0"/>
              </a:rPr>
              <a:t> </a:t>
            </a:r>
            <a:r>
              <a:rPr lang="pt-BR" dirty="0" err="1">
                <a:latin typeface="Montserrat" panose="00000500000000000000" pitchFamily="2" charset="0"/>
              </a:rPr>
              <a:t>apae</a:t>
            </a:r>
            <a:endParaRPr lang="pt-BR" dirty="0"/>
          </a:p>
        </p:txBody>
      </p:sp>
      <p:pic>
        <p:nvPicPr>
          <p:cNvPr id="10" name="Imagem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89859" y="5932891"/>
            <a:ext cx="1525491" cy="514024"/>
          </a:xfrm>
          <a:prstGeom prst="rect">
            <a:avLst/>
          </a:prstGeom>
        </p:spPr>
      </p:pic>
    </p:spTree>
    <p:extLst>
      <p:ext uri="{BB962C8B-B14F-4D97-AF65-F5344CB8AC3E}">
        <p14:creationId xmlns:p14="http://schemas.microsoft.com/office/powerpoint/2010/main" val="2253544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3" name="Espaço Reservado para Data 2"/>
          <p:cNvSpPr>
            <a:spLocks noGrp="1"/>
          </p:cNvSpPr>
          <p:nvPr>
            <p:ph type="dt" sz="half" idx="10"/>
          </p:nvPr>
        </p:nvSpPr>
        <p:spPr/>
        <p:txBody>
          <a:bodyPr/>
          <a:lstStyle/>
          <a:p>
            <a:fld id="{5193A530-045E-4FBC-827D-EE4599172689}" type="datetimeFigureOut">
              <a:rPr lang="pt-BR" smtClean="0"/>
              <a:t>27/01/2021</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1F4F3CB9-74B1-48EC-825B-4175542E3717}" type="slidenum">
              <a:rPr lang="pt-BR" smtClean="0"/>
              <a:t>‹nº›</a:t>
            </a:fld>
            <a:endParaRPr lang="pt-BR"/>
          </a:p>
        </p:txBody>
      </p:sp>
      <p:pic>
        <p:nvPicPr>
          <p:cNvPr id="7" name="Imagem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66666" y="5932891"/>
            <a:ext cx="1448684" cy="488143"/>
          </a:xfrm>
          <a:prstGeom prst="rect">
            <a:avLst/>
          </a:prstGeom>
        </p:spPr>
      </p:pic>
      <p:sp>
        <p:nvSpPr>
          <p:cNvPr id="8" name="Espaço Reservado para Texto 14">
            <a:extLst>
              <a:ext uri="{FF2B5EF4-FFF2-40B4-BE49-F238E27FC236}">
                <a16:creationId xmlns:a16="http://schemas.microsoft.com/office/drawing/2014/main" id="{741322F5-93ED-4D68-A8FF-9359DF6E751A}"/>
              </a:ext>
            </a:extLst>
          </p:cNvPr>
          <p:cNvSpPr>
            <a:spLocks noGrp="1"/>
          </p:cNvSpPr>
          <p:nvPr>
            <p:ph type="body" sz="quarter" idx="13" hasCustomPrompt="1"/>
          </p:nvPr>
        </p:nvSpPr>
        <p:spPr>
          <a:xfrm>
            <a:off x="629360" y="2023993"/>
            <a:ext cx="8322553" cy="707886"/>
          </a:xfrm>
          <a:prstGeom prst="rect">
            <a:avLst/>
          </a:prstGeom>
        </p:spPr>
        <p:txBody>
          <a:bodyPr/>
          <a:lstStyle>
            <a:lvl1pPr marL="0" indent="0">
              <a:buNone/>
              <a:defRPr sz="4400" b="1">
                <a:solidFill>
                  <a:schemeClr val="tx1">
                    <a:lumMod val="75000"/>
                    <a:lumOff val="25000"/>
                  </a:schemeClr>
                </a:solidFill>
                <a:latin typeface="Montserrat" panose="00000500000000000000" pitchFamily="2" charset="0"/>
              </a:defRPr>
            </a:lvl1pPr>
            <a:lvl2pPr>
              <a:defRPr sz="3200"/>
            </a:lvl2pPr>
            <a:lvl3pPr>
              <a:defRPr sz="2800"/>
            </a:lvl3pPr>
            <a:lvl4pPr>
              <a:defRPr sz="2400"/>
            </a:lvl4pPr>
            <a:lvl5pPr>
              <a:defRPr sz="2400"/>
            </a:lvl5pPr>
          </a:lstStyle>
          <a:p>
            <a:pPr lvl="0"/>
            <a:r>
              <a:rPr lang="pt-BR" dirty="0"/>
              <a:t>Digitar seu título aqui</a:t>
            </a:r>
          </a:p>
        </p:txBody>
      </p:sp>
      <p:sp>
        <p:nvSpPr>
          <p:cNvPr id="9" name="Espaço Reservado para Texto 16">
            <a:extLst>
              <a:ext uri="{FF2B5EF4-FFF2-40B4-BE49-F238E27FC236}">
                <a16:creationId xmlns:a16="http://schemas.microsoft.com/office/drawing/2014/main" id="{2B77ECB5-455F-48E1-AC6C-CB94B5AD6A0B}"/>
              </a:ext>
            </a:extLst>
          </p:cNvPr>
          <p:cNvSpPr>
            <a:spLocks noGrp="1"/>
          </p:cNvSpPr>
          <p:nvPr>
            <p:ph type="body" sz="quarter" idx="14" hasCustomPrompt="1"/>
          </p:nvPr>
        </p:nvSpPr>
        <p:spPr>
          <a:xfrm>
            <a:off x="629360" y="3115182"/>
            <a:ext cx="3496729" cy="341288"/>
          </a:xfrm>
          <a:prstGeom prst="rect">
            <a:avLst/>
          </a:prstGeom>
        </p:spPr>
        <p:txBody>
          <a:bodyPr/>
          <a:lstStyle>
            <a:lvl1pPr marL="0" indent="0">
              <a:buNone/>
              <a:defRPr sz="2000" b="1">
                <a:solidFill>
                  <a:srgbClr val="E51E3C"/>
                </a:solidFill>
                <a:latin typeface="Montserrat" panose="00000500000000000000" pitchFamily="2" charset="0"/>
              </a:defRPr>
            </a:lvl1pPr>
          </a:lstStyle>
          <a:p>
            <a:pPr lvl="0"/>
            <a:r>
              <a:rPr lang="pt-BR" dirty="0"/>
              <a:t>Digitar seu subtítulo aqui</a:t>
            </a:r>
          </a:p>
        </p:txBody>
      </p:sp>
      <p:sp>
        <p:nvSpPr>
          <p:cNvPr id="10" name="Espaço Reservado para Texto 18">
            <a:extLst>
              <a:ext uri="{FF2B5EF4-FFF2-40B4-BE49-F238E27FC236}">
                <a16:creationId xmlns:a16="http://schemas.microsoft.com/office/drawing/2014/main" id="{94A25BC8-06B9-4702-900E-C725EC898475}"/>
              </a:ext>
            </a:extLst>
          </p:cNvPr>
          <p:cNvSpPr>
            <a:spLocks noGrp="1"/>
          </p:cNvSpPr>
          <p:nvPr>
            <p:ph type="body" sz="quarter" idx="15" hasCustomPrompt="1"/>
          </p:nvPr>
        </p:nvSpPr>
        <p:spPr>
          <a:xfrm>
            <a:off x="628650" y="3635432"/>
            <a:ext cx="8323263" cy="8997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solidFill>
                  <a:schemeClr val="tx1">
                    <a:lumMod val="65000"/>
                    <a:lumOff val="35000"/>
                  </a:schemeClr>
                </a:solidFill>
                <a:latin typeface="Montserrat" panose="00000500000000000000" pitchFamily="2" charset="0"/>
              </a:defRPr>
            </a:lvl1pPr>
          </a:lstStyle>
          <a:p>
            <a:r>
              <a:rPr lang="pt-BR" sz="2000" dirty="0">
                <a:solidFill>
                  <a:schemeClr val="tx1">
                    <a:lumMod val="65000"/>
                    <a:lumOff val="35000"/>
                  </a:schemeClr>
                </a:solidFill>
                <a:latin typeface="Montserrat" pitchFamily="2" charset="77"/>
              </a:rPr>
              <a:t>At vero </a:t>
            </a:r>
            <a:r>
              <a:rPr lang="pt-BR" sz="2000" dirty="0" err="1">
                <a:solidFill>
                  <a:schemeClr val="tx1">
                    <a:lumMod val="65000"/>
                    <a:lumOff val="35000"/>
                  </a:schemeClr>
                </a:solidFill>
                <a:latin typeface="Montserrat" pitchFamily="2" charset="77"/>
              </a:rPr>
              <a:t>eos</a:t>
            </a:r>
            <a:r>
              <a:rPr lang="pt-BR" sz="2000" dirty="0">
                <a:solidFill>
                  <a:schemeClr val="tx1">
                    <a:lumMod val="65000"/>
                    <a:lumOff val="35000"/>
                  </a:schemeClr>
                </a:solidFill>
                <a:latin typeface="Montserrat" pitchFamily="2" charset="77"/>
              </a:rPr>
              <a:t> et </a:t>
            </a:r>
            <a:r>
              <a:rPr lang="pt-BR" sz="2000" dirty="0" err="1">
                <a:solidFill>
                  <a:schemeClr val="tx1">
                    <a:lumMod val="65000"/>
                    <a:lumOff val="35000"/>
                  </a:schemeClr>
                </a:solidFill>
                <a:latin typeface="Montserrat" pitchFamily="2" charset="77"/>
              </a:rPr>
              <a:t>accusamus</a:t>
            </a:r>
            <a:r>
              <a:rPr lang="pt-BR" sz="2000" dirty="0">
                <a:solidFill>
                  <a:schemeClr val="tx1">
                    <a:lumMod val="65000"/>
                    <a:lumOff val="35000"/>
                  </a:schemeClr>
                </a:solidFill>
                <a:latin typeface="Montserrat" pitchFamily="2" charset="77"/>
              </a:rPr>
              <a:t> et </a:t>
            </a:r>
            <a:r>
              <a:rPr lang="pt-BR" sz="2000" dirty="0" err="1">
                <a:solidFill>
                  <a:schemeClr val="tx1">
                    <a:lumMod val="65000"/>
                    <a:lumOff val="35000"/>
                  </a:schemeClr>
                </a:solidFill>
                <a:latin typeface="Montserrat" pitchFamily="2" charset="77"/>
              </a:rPr>
              <a:t>iusto</a:t>
            </a:r>
            <a:r>
              <a:rPr lang="pt-BR" sz="2000" dirty="0">
                <a:solidFill>
                  <a:schemeClr val="tx1">
                    <a:lumMod val="65000"/>
                    <a:lumOff val="35000"/>
                  </a:schemeClr>
                </a:solidFill>
                <a:latin typeface="Montserrat" pitchFamily="2" charset="77"/>
              </a:rPr>
              <a:t> </a:t>
            </a:r>
            <a:r>
              <a:rPr lang="pt-BR" sz="2000" dirty="0" err="1">
                <a:solidFill>
                  <a:schemeClr val="tx1">
                    <a:lumMod val="65000"/>
                    <a:lumOff val="35000"/>
                  </a:schemeClr>
                </a:solidFill>
                <a:latin typeface="Montserrat" pitchFamily="2" charset="77"/>
              </a:rPr>
              <a:t>odio</a:t>
            </a:r>
            <a:r>
              <a:rPr lang="pt-BR" sz="2000" dirty="0">
                <a:solidFill>
                  <a:schemeClr val="tx1">
                    <a:lumMod val="65000"/>
                    <a:lumOff val="35000"/>
                  </a:schemeClr>
                </a:solidFill>
                <a:latin typeface="Montserrat" pitchFamily="2" charset="77"/>
              </a:rPr>
              <a:t> </a:t>
            </a:r>
            <a:r>
              <a:rPr lang="pt-BR" sz="2000" dirty="0" err="1">
                <a:solidFill>
                  <a:schemeClr val="tx1">
                    <a:lumMod val="65000"/>
                    <a:lumOff val="35000"/>
                  </a:schemeClr>
                </a:solidFill>
                <a:latin typeface="Montserrat" pitchFamily="2" charset="77"/>
              </a:rPr>
              <a:t>dignissimos</a:t>
            </a:r>
            <a:endParaRPr lang="pt-BR" sz="2000" dirty="0">
              <a:solidFill>
                <a:schemeClr val="tx1">
                  <a:lumMod val="65000"/>
                  <a:lumOff val="35000"/>
                </a:schemeClr>
              </a:solidFill>
              <a:latin typeface="Montserrat" pitchFamily="2" charset="77"/>
            </a:endParaRPr>
          </a:p>
          <a:p>
            <a:r>
              <a:rPr lang="pt-BR" sz="2000" dirty="0" err="1">
                <a:solidFill>
                  <a:schemeClr val="tx1">
                    <a:lumMod val="65000"/>
                    <a:lumOff val="35000"/>
                  </a:schemeClr>
                </a:solidFill>
                <a:latin typeface="Montserrat" pitchFamily="2" charset="77"/>
              </a:rPr>
              <a:t>praesentium</a:t>
            </a:r>
            <a:r>
              <a:rPr lang="pt-BR" sz="2000" dirty="0">
                <a:solidFill>
                  <a:schemeClr val="tx1">
                    <a:lumMod val="65000"/>
                    <a:lumOff val="35000"/>
                  </a:schemeClr>
                </a:solidFill>
                <a:latin typeface="Montserrat" pitchFamily="2" charset="77"/>
              </a:rPr>
              <a:t> </a:t>
            </a:r>
            <a:r>
              <a:rPr lang="pt-BR" sz="2000" dirty="0" err="1">
                <a:solidFill>
                  <a:schemeClr val="tx1">
                    <a:lumMod val="65000"/>
                    <a:lumOff val="35000"/>
                  </a:schemeClr>
                </a:solidFill>
                <a:latin typeface="Montserrat" pitchFamily="2" charset="77"/>
              </a:rPr>
              <a:t>voluptatum</a:t>
            </a:r>
            <a:r>
              <a:rPr lang="pt-BR" sz="2000" dirty="0">
                <a:solidFill>
                  <a:schemeClr val="tx1">
                    <a:lumMod val="65000"/>
                    <a:lumOff val="35000"/>
                  </a:schemeClr>
                </a:solidFill>
                <a:latin typeface="Montserrat" pitchFamily="2" charset="77"/>
              </a:rPr>
              <a:t> </a:t>
            </a:r>
            <a:r>
              <a:rPr lang="pt-BR" sz="2000" dirty="0" err="1">
                <a:solidFill>
                  <a:schemeClr val="tx1">
                    <a:lumMod val="65000"/>
                    <a:lumOff val="35000"/>
                  </a:schemeClr>
                </a:solidFill>
                <a:latin typeface="Montserrat" pitchFamily="2" charset="77"/>
              </a:rPr>
              <a:t>deleniti</a:t>
            </a:r>
            <a:r>
              <a:rPr lang="pt-BR" sz="2000" dirty="0">
                <a:solidFill>
                  <a:schemeClr val="tx1">
                    <a:lumMod val="65000"/>
                    <a:lumOff val="35000"/>
                  </a:schemeClr>
                </a:solidFill>
                <a:latin typeface="Montserrat" pitchFamily="2" charset="77"/>
              </a:rPr>
              <a:t> </a:t>
            </a:r>
            <a:r>
              <a:rPr lang="pt-BR" sz="2000" dirty="0" err="1">
                <a:solidFill>
                  <a:schemeClr val="tx1">
                    <a:lumMod val="65000"/>
                    <a:lumOff val="35000"/>
                  </a:schemeClr>
                </a:solidFill>
                <a:latin typeface="Montserrat" pitchFamily="2" charset="77"/>
              </a:rPr>
              <a:t>atque</a:t>
            </a:r>
            <a:r>
              <a:rPr lang="pt-BR" sz="2000" dirty="0">
                <a:solidFill>
                  <a:schemeClr val="tx1">
                    <a:lumMod val="65000"/>
                    <a:lumOff val="35000"/>
                  </a:schemeClr>
                </a:solidFill>
                <a:latin typeface="Montserrat" pitchFamily="2" charset="77"/>
              </a:rPr>
              <a:t>.</a:t>
            </a:r>
          </a:p>
          <a:p>
            <a:pPr lvl="0"/>
            <a:r>
              <a:rPr lang="pt-BR" dirty="0"/>
              <a:t> </a:t>
            </a:r>
          </a:p>
        </p:txBody>
      </p:sp>
    </p:spTree>
    <p:extLst>
      <p:ext uri="{BB962C8B-B14F-4D97-AF65-F5344CB8AC3E}">
        <p14:creationId xmlns:p14="http://schemas.microsoft.com/office/powerpoint/2010/main" val="550393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pic>
        <p:nvPicPr>
          <p:cNvPr id="8" name="Imagem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54240" y="9207"/>
            <a:ext cx="1889760" cy="6848793"/>
          </a:xfrm>
          <a:prstGeom prst="rect">
            <a:avLst/>
          </a:prstGeom>
        </p:spPr>
      </p:pic>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5193A530-045E-4FBC-827D-EE4599172689}" type="datetimeFigureOut">
              <a:rPr lang="pt-BR" smtClean="0"/>
              <a:t>27/01/2021</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F4F3CB9-74B1-48EC-825B-4175542E3717}" type="slidenum">
              <a:rPr lang="pt-BR" smtClean="0"/>
              <a:t>‹nº›</a:t>
            </a:fld>
            <a:endParaRPr lang="pt-BR"/>
          </a:p>
        </p:txBody>
      </p:sp>
      <p:pic>
        <p:nvPicPr>
          <p:cNvPr id="9" name="Imagem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66666" y="5975755"/>
            <a:ext cx="1448684" cy="488143"/>
          </a:xfrm>
          <a:prstGeom prst="rect">
            <a:avLst/>
          </a:prstGeom>
        </p:spPr>
      </p:pic>
    </p:spTree>
    <p:extLst>
      <p:ext uri="{BB962C8B-B14F-4D97-AF65-F5344CB8AC3E}">
        <p14:creationId xmlns:p14="http://schemas.microsoft.com/office/powerpoint/2010/main" val="3341652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pic>
        <p:nvPicPr>
          <p:cNvPr id="10" name="Imagem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54240" y="9207"/>
            <a:ext cx="1889760" cy="6848793"/>
          </a:xfrm>
          <a:prstGeom prst="rect">
            <a:avLst/>
          </a:prstGeom>
        </p:spPr>
      </p:pic>
      <p:sp>
        <p:nvSpPr>
          <p:cNvPr id="2" name="Title 1"/>
          <p:cNvSpPr>
            <a:spLocks noGrp="1"/>
          </p:cNvSpPr>
          <p:nvPr>
            <p:ph type="title"/>
          </p:nvPr>
        </p:nvSpPr>
        <p:spPr>
          <a:xfrm>
            <a:off x="629841" y="365126"/>
            <a:ext cx="78867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629842" y="2505075"/>
            <a:ext cx="3868340"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4629150" y="2505075"/>
            <a:ext cx="3887391"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5193A530-045E-4FBC-827D-EE4599172689}" type="datetimeFigureOut">
              <a:rPr lang="pt-BR" smtClean="0"/>
              <a:t>27/01/2021</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1F4F3CB9-74B1-48EC-825B-4175542E3717}" type="slidenum">
              <a:rPr lang="pt-BR" smtClean="0"/>
              <a:t>‹nº›</a:t>
            </a:fld>
            <a:endParaRPr lang="pt-BR"/>
          </a:p>
        </p:txBody>
      </p:sp>
      <p:pic>
        <p:nvPicPr>
          <p:cNvPr id="11" name="Imagem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66666" y="5932891"/>
            <a:ext cx="1448684" cy="488143"/>
          </a:xfrm>
          <a:prstGeom prst="rect">
            <a:avLst/>
          </a:prstGeom>
        </p:spPr>
      </p:pic>
    </p:spTree>
    <p:extLst>
      <p:ext uri="{BB962C8B-B14F-4D97-AF65-F5344CB8AC3E}">
        <p14:creationId xmlns:p14="http://schemas.microsoft.com/office/powerpoint/2010/main" val="3595629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pic>
        <p:nvPicPr>
          <p:cNvPr id="6" name="Imagem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54240" y="9207"/>
            <a:ext cx="1889760" cy="6848793"/>
          </a:xfrm>
          <a:prstGeom prst="rect">
            <a:avLst/>
          </a:prstGeom>
        </p:spPr>
      </p:pic>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5193A530-045E-4FBC-827D-EE4599172689}" type="datetimeFigureOut">
              <a:rPr lang="pt-BR" smtClean="0"/>
              <a:t>27/01/2021</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F4F3CB9-74B1-48EC-825B-4175542E3717}" type="slidenum">
              <a:rPr lang="pt-BR" smtClean="0"/>
              <a:t>‹nº›</a:t>
            </a:fld>
            <a:endParaRPr lang="pt-BR"/>
          </a:p>
        </p:txBody>
      </p:sp>
      <p:pic>
        <p:nvPicPr>
          <p:cNvPr id="7" name="Imagem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66666" y="5932891"/>
            <a:ext cx="1448684" cy="488143"/>
          </a:xfrm>
          <a:prstGeom prst="rect">
            <a:avLst/>
          </a:prstGeom>
        </p:spPr>
      </p:pic>
    </p:spTree>
    <p:extLst>
      <p:ext uri="{BB962C8B-B14F-4D97-AF65-F5344CB8AC3E}">
        <p14:creationId xmlns:p14="http://schemas.microsoft.com/office/powerpoint/2010/main" val="2249690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pic>
        <p:nvPicPr>
          <p:cNvPr id="6" name="Imagem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54240" y="9207"/>
            <a:ext cx="1889760" cy="6848793"/>
          </a:xfrm>
          <a:prstGeom prst="rect">
            <a:avLst/>
          </a:prstGeom>
        </p:spPr>
      </p:pic>
      <p:sp>
        <p:nvSpPr>
          <p:cNvPr id="2" name="Date Placeholder 1"/>
          <p:cNvSpPr>
            <a:spLocks noGrp="1"/>
          </p:cNvSpPr>
          <p:nvPr>
            <p:ph type="dt" sz="half" idx="10"/>
          </p:nvPr>
        </p:nvSpPr>
        <p:spPr/>
        <p:txBody>
          <a:bodyPr/>
          <a:lstStyle/>
          <a:p>
            <a:fld id="{5193A530-045E-4FBC-827D-EE4599172689}" type="datetimeFigureOut">
              <a:rPr lang="pt-BR" smtClean="0"/>
              <a:t>27/01/2021</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1F4F3CB9-74B1-48EC-825B-4175542E3717}" type="slidenum">
              <a:rPr lang="pt-BR" smtClean="0"/>
              <a:t>‹nº›</a:t>
            </a:fld>
            <a:endParaRPr lang="pt-BR"/>
          </a:p>
        </p:txBody>
      </p:sp>
      <p:pic>
        <p:nvPicPr>
          <p:cNvPr id="5" name="Imagem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66666" y="5932891"/>
            <a:ext cx="1448684" cy="488143"/>
          </a:xfrm>
          <a:prstGeom prst="rect">
            <a:avLst/>
          </a:prstGeom>
        </p:spPr>
      </p:pic>
    </p:spTree>
    <p:extLst>
      <p:ext uri="{BB962C8B-B14F-4D97-AF65-F5344CB8AC3E}">
        <p14:creationId xmlns:p14="http://schemas.microsoft.com/office/powerpoint/2010/main" val="3054172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pic>
        <p:nvPicPr>
          <p:cNvPr id="9" name="Imagem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54240" y="9207"/>
            <a:ext cx="1889760" cy="6848793"/>
          </a:xfrm>
          <a:prstGeom prst="rect">
            <a:avLst/>
          </a:prstGeom>
        </p:spPr>
      </p:pic>
      <p:sp>
        <p:nvSpPr>
          <p:cNvPr id="2" name="Title 1"/>
          <p:cNvSpPr>
            <a:spLocks noGrp="1"/>
          </p:cNvSpPr>
          <p:nvPr>
            <p:ph type="title"/>
          </p:nvPr>
        </p:nvSpPr>
        <p:spPr>
          <a:xfrm>
            <a:off x="629841" y="457200"/>
            <a:ext cx="2949178" cy="1600200"/>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Date Placeholder 4"/>
          <p:cNvSpPr>
            <a:spLocks noGrp="1"/>
          </p:cNvSpPr>
          <p:nvPr>
            <p:ph type="dt" sz="half" idx="10"/>
          </p:nvPr>
        </p:nvSpPr>
        <p:spPr/>
        <p:txBody>
          <a:bodyPr/>
          <a:lstStyle/>
          <a:p>
            <a:fld id="{5193A530-045E-4FBC-827D-EE4599172689}" type="datetimeFigureOut">
              <a:rPr lang="pt-BR" smtClean="0"/>
              <a:t>27/01/2021</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F4F3CB9-74B1-48EC-825B-4175542E3717}" type="slidenum">
              <a:rPr lang="pt-BR" smtClean="0"/>
              <a:t>‹nº›</a:t>
            </a:fld>
            <a:endParaRPr lang="pt-BR"/>
          </a:p>
        </p:txBody>
      </p:sp>
      <p:pic>
        <p:nvPicPr>
          <p:cNvPr id="8" name="Imagem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66666" y="5932891"/>
            <a:ext cx="1448684" cy="488143"/>
          </a:xfrm>
          <a:prstGeom prst="rect">
            <a:avLst/>
          </a:prstGeom>
        </p:spPr>
      </p:pic>
    </p:spTree>
    <p:extLst>
      <p:ext uri="{BB962C8B-B14F-4D97-AF65-F5344CB8AC3E}">
        <p14:creationId xmlns:p14="http://schemas.microsoft.com/office/powerpoint/2010/main" val="2648450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pic>
        <p:nvPicPr>
          <p:cNvPr id="9" name="Imagem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54240" y="9207"/>
            <a:ext cx="1889760" cy="6848793"/>
          </a:xfrm>
          <a:prstGeom prst="rect">
            <a:avLst/>
          </a:prstGeom>
        </p:spPr>
      </p:pic>
      <p:sp>
        <p:nvSpPr>
          <p:cNvPr id="2" name="Title 1"/>
          <p:cNvSpPr>
            <a:spLocks noGrp="1"/>
          </p:cNvSpPr>
          <p:nvPr>
            <p:ph type="title"/>
          </p:nvPr>
        </p:nvSpPr>
        <p:spPr>
          <a:xfrm>
            <a:off x="629841" y="457200"/>
            <a:ext cx="2949178" cy="160020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Date Placeholder 4"/>
          <p:cNvSpPr>
            <a:spLocks noGrp="1"/>
          </p:cNvSpPr>
          <p:nvPr>
            <p:ph type="dt" sz="half" idx="10"/>
          </p:nvPr>
        </p:nvSpPr>
        <p:spPr/>
        <p:txBody>
          <a:bodyPr/>
          <a:lstStyle/>
          <a:p>
            <a:fld id="{5193A530-045E-4FBC-827D-EE4599172689}" type="datetimeFigureOut">
              <a:rPr lang="pt-BR" smtClean="0"/>
              <a:t>27/01/2021</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F4F3CB9-74B1-48EC-825B-4175542E3717}" type="slidenum">
              <a:rPr lang="pt-BR" smtClean="0"/>
              <a:t>‹nº›</a:t>
            </a:fld>
            <a:endParaRPr lang="pt-BR"/>
          </a:p>
        </p:txBody>
      </p:sp>
      <p:pic>
        <p:nvPicPr>
          <p:cNvPr id="8" name="Imagem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66666" y="5932891"/>
            <a:ext cx="1448684" cy="488143"/>
          </a:xfrm>
          <a:prstGeom prst="rect">
            <a:avLst/>
          </a:prstGeom>
        </p:spPr>
      </p:pic>
    </p:spTree>
    <p:extLst>
      <p:ext uri="{BB962C8B-B14F-4D97-AF65-F5344CB8AC3E}">
        <p14:creationId xmlns:p14="http://schemas.microsoft.com/office/powerpoint/2010/main" val="4258203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pic>
        <p:nvPicPr>
          <p:cNvPr id="8" name="Imagem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54240" y="9207"/>
            <a:ext cx="1889760" cy="6848793"/>
          </a:xfrm>
          <a:prstGeom prst="rect">
            <a:avLst/>
          </a:prstGeom>
        </p:spPr>
      </p:pic>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5193A530-045E-4FBC-827D-EE4599172689}" type="datetimeFigureOut">
              <a:rPr lang="pt-BR" smtClean="0"/>
              <a:t>27/01/2021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F4F3CB9-74B1-48EC-825B-4175542E3717}" type="slidenum">
              <a:rPr lang="pt-BR" smtClean="0"/>
              <a:t>‹nº›</a:t>
            </a:fld>
            <a:endParaRPr lang="pt-BR"/>
          </a:p>
        </p:txBody>
      </p:sp>
      <p:pic>
        <p:nvPicPr>
          <p:cNvPr id="7" name="Imagem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66666" y="5932891"/>
            <a:ext cx="1448684" cy="488143"/>
          </a:xfrm>
          <a:prstGeom prst="rect">
            <a:avLst/>
          </a:prstGeom>
        </p:spPr>
      </p:pic>
    </p:spTree>
    <p:extLst>
      <p:ext uri="{BB962C8B-B14F-4D97-AF65-F5344CB8AC3E}">
        <p14:creationId xmlns:p14="http://schemas.microsoft.com/office/powerpoint/2010/main" val="1769051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pic>
        <p:nvPicPr>
          <p:cNvPr id="8" name="Imagem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54240" y="9207"/>
            <a:ext cx="1889760" cy="6848793"/>
          </a:xfrm>
          <a:prstGeom prst="rect">
            <a:avLst/>
          </a:prstGeom>
        </p:spPr>
      </p:pic>
      <p:sp>
        <p:nvSpPr>
          <p:cNvPr id="2" name="Vertical Title 1"/>
          <p:cNvSpPr>
            <a:spLocks noGrp="1"/>
          </p:cNvSpPr>
          <p:nvPr>
            <p:ph type="title" orient="vert"/>
          </p:nvPr>
        </p:nvSpPr>
        <p:spPr>
          <a:xfrm>
            <a:off x="6543675" y="365125"/>
            <a:ext cx="1971675" cy="581183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5193A530-045E-4FBC-827D-EE4599172689}" type="datetimeFigureOut">
              <a:rPr lang="pt-BR" smtClean="0"/>
              <a:t>27/01/2021</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F4F3CB9-74B1-48EC-825B-4175542E3717}" type="slidenum">
              <a:rPr lang="pt-BR" smtClean="0"/>
              <a:t>‹nº›</a:t>
            </a:fld>
            <a:endParaRPr lang="pt-BR"/>
          </a:p>
        </p:txBody>
      </p:sp>
      <p:pic>
        <p:nvPicPr>
          <p:cNvPr id="7" name="Imagem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66666" y="5932891"/>
            <a:ext cx="1448684" cy="488143"/>
          </a:xfrm>
          <a:prstGeom prst="rect">
            <a:avLst/>
          </a:prstGeom>
        </p:spPr>
      </p:pic>
    </p:spTree>
    <p:extLst>
      <p:ext uri="{BB962C8B-B14F-4D97-AF65-F5344CB8AC3E}">
        <p14:creationId xmlns:p14="http://schemas.microsoft.com/office/powerpoint/2010/main" val="3363801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93A530-045E-4FBC-827D-EE4599172689}" type="datetimeFigureOut">
              <a:rPr lang="pt-BR" smtClean="0"/>
              <a:t>27/01/2021</a:t>
            </a:fld>
            <a:endParaRPr lang="pt-B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F3CB9-74B1-48EC-825B-4175542E3717}" type="slidenum">
              <a:rPr lang="pt-BR" smtClean="0"/>
              <a:t>‹nº›</a:t>
            </a:fld>
            <a:endParaRPr lang="pt-BR"/>
          </a:p>
        </p:txBody>
      </p:sp>
    </p:spTree>
    <p:extLst>
      <p:ext uri="{BB962C8B-B14F-4D97-AF65-F5344CB8AC3E}">
        <p14:creationId xmlns:p14="http://schemas.microsoft.com/office/powerpoint/2010/main" val="32263064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72"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b-engines.com/en/ranking"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sz="quarter" idx="13"/>
          </p:nvPr>
        </p:nvSpPr>
        <p:spPr/>
        <p:txBody>
          <a:bodyPr>
            <a:normAutofit fontScale="92500"/>
          </a:bodyPr>
          <a:lstStyle/>
          <a:p>
            <a:r>
              <a:rPr lang="pt-BR" dirty="0"/>
              <a:t>Modelo Entidade Relacionamento</a:t>
            </a:r>
          </a:p>
        </p:txBody>
      </p:sp>
      <p:sp>
        <p:nvSpPr>
          <p:cNvPr id="3" name="Espaço Reservado para Texto 2"/>
          <p:cNvSpPr>
            <a:spLocks noGrp="1"/>
          </p:cNvSpPr>
          <p:nvPr>
            <p:ph type="body" sz="quarter" idx="14"/>
          </p:nvPr>
        </p:nvSpPr>
        <p:spPr/>
        <p:txBody>
          <a:bodyPr>
            <a:normAutofit fontScale="92500"/>
          </a:bodyPr>
          <a:lstStyle/>
          <a:p>
            <a:r>
              <a:rPr lang="pt-BR" dirty="0"/>
              <a:t>Prof. Saulo Santos / Prof. Caique Zaneti</a:t>
            </a:r>
          </a:p>
          <a:p>
            <a:endParaRPr lang="pt-BR" dirty="0"/>
          </a:p>
        </p:txBody>
      </p:sp>
      <p:sp>
        <p:nvSpPr>
          <p:cNvPr id="4" name="Espaço Reservado para Texto 3"/>
          <p:cNvSpPr>
            <a:spLocks noGrp="1"/>
          </p:cNvSpPr>
          <p:nvPr>
            <p:ph type="body" sz="quarter" idx="15"/>
          </p:nvPr>
        </p:nvSpPr>
        <p:spPr/>
        <p:txBody>
          <a:bodyPr/>
          <a:lstStyle/>
          <a:p>
            <a:r>
              <a:rPr lang="pt-BR" dirty="0"/>
              <a:t>MER, Cardinalidade e Exercícios Práticos</a:t>
            </a:r>
          </a:p>
        </p:txBody>
      </p:sp>
    </p:spTree>
    <p:extLst>
      <p:ext uri="{BB962C8B-B14F-4D97-AF65-F5344CB8AC3E}">
        <p14:creationId xmlns:p14="http://schemas.microsoft.com/office/powerpoint/2010/main" val="1290416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ço Reservado para Conteúdo 3">
            <a:extLst>
              <a:ext uri="{FF2B5EF4-FFF2-40B4-BE49-F238E27FC236}">
                <a16:creationId xmlns:a16="http://schemas.microsoft.com/office/drawing/2014/main" id="{940C7C18-BE69-4AEC-93D4-569D366F5692}"/>
              </a:ext>
            </a:extLst>
          </p:cNvPr>
          <p:cNvPicPr>
            <a:picLocks noGrp="1" noChangeAspect="1"/>
          </p:cNvPicPr>
          <p:nvPr>
            <p:ph idx="1"/>
          </p:nvPr>
        </p:nvPicPr>
        <p:blipFill rotWithShape="1">
          <a:blip r:embed="rId2"/>
          <a:srcRect l="25707" t="11482" r="21062" b="25621"/>
          <a:stretch/>
        </p:blipFill>
        <p:spPr>
          <a:xfrm>
            <a:off x="892036" y="918669"/>
            <a:ext cx="7359926" cy="4891597"/>
          </a:xfrm>
          <a:prstGeom prst="rect">
            <a:avLst/>
          </a:prstGeom>
        </p:spPr>
      </p:pic>
      <p:sp>
        <p:nvSpPr>
          <p:cNvPr id="3" name="Espaço Reservado para Texto 2"/>
          <p:cNvSpPr>
            <a:spLocks noGrp="1"/>
          </p:cNvSpPr>
          <p:nvPr>
            <p:ph type="body" sz="quarter" idx="13"/>
          </p:nvPr>
        </p:nvSpPr>
        <p:spPr/>
        <p:txBody>
          <a:bodyPr>
            <a:normAutofit fontScale="92500"/>
          </a:bodyPr>
          <a:lstStyle/>
          <a:p>
            <a:r>
              <a:rPr lang="pt-BR" dirty="0"/>
              <a:t>Ranking de Banco de Dados mais utilizados</a:t>
            </a:r>
          </a:p>
          <a:p>
            <a:endParaRPr lang="pt-BR" dirty="0"/>
          </a:p>
        </p:txBody>
      </p:sp>
      <p:sp>
        <p:nvSpPr>
          <p:cNvPr id="5" name="CaixaDeTexto 4">
            <a:extLst>
              <a:ext uri="{FF2B5EF4-FFF2-40B4-BE49-F238E27FC236}">
                <a16:creationId xmlns:a16="http://schemas.microsoft.com/office/drawing/2014/main" id="{B909E51B-65E2-44A5-8C4D-6B5A932F5CB4}"/>
              </a:ext>
            </a:extLst>
          </p:cNvPr>
          <p:cNvSpPr txBox="1"/>
          <p:nvPr/>
        </p:nvSpPr>
        <p:spPr>
          <a:xfrm>
            <a:off x="1349406" y="5797118"/>
            <a:ext cx="4165436" cy="646331"/>
          </a:xfrm>
          <a:prstGeom prst="rect">
            <a:avLst/>
          </a:prstGeom>
          <a:noFill/>
        </p:spPr>
        <p:txBody>
          <a:bodyPr wrap="none" rtlCol="0">
            <a:spAutoFit/>
          </a:bodyPr>
          <a:lstStyle/>
          <a:p>
            <a:r>
              <a:rPr lang="pt-BR" dirty="0"/>
              <a:t>Fonte: </a:t>
            </a:r>
            <a:r>
              <a:rPr lang="pt-BR" dirty="0">
                <a:hlinkClick r:id="rId3"/>
              </a:rPr>
              <a:t>https://db-engines.com/en/ranking</a:t>
            </a:r>
            <a:endParaRPr lang="pt-BR" dirty="0"/>
          </a:p>
          <a:p>
            <a:endParaRPr lang="pt-BR" dirty="0"/>
          </a:p>
        </p:txBody>
      </p:sp>
    </p:spTree>
    <p:extLst>
      <p:ext uri="{BB962C8B-B14F-4D97-AF65-F5344CB8AC3E}">
        <p14:creationId xmlns:p14="http://schemas.microsoft.com/office/powerpoint/2010/main" val="2675810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D3B6B98B-64D4-45F4-8A32-A40CDD2AFD72}"/>
              </a:ext>
            </a:extLst>
          </p:cNvPr>
          <p:cNvSpPr>
            <a:spLocks noGrp="1"/>
          </p:cNvSpPr>
          <p:nvPr>
            <p:ph idx="1"/>
          </p:nvPr>
        </p:nvSpPr>
        <p:spPr/>
        <p:txBody>
          <a:bodyPr/>
          <a:lstStyle/>
          <a:p>
            <a:pPr algn="just"/>
            <a:r>
              <a:rPr lang="pt-BR" sz="2000" b="1" dirty="0">
                <a:latin typeface="Arial" panose="020B0604020202020204" pitchFamily="34" charset="0"/>
                <a:cs typeface="Arial" panose="020B0604020202020204" pitchFamily="34" charset="0"/>
              </a:rPr>
              <a:t>Desenvolvedor</a:t>
            </a:r>
            <a:r>
              <a:rPr lang="pt-BR" sz="2000" dirty="0">
                <a:latin typeface="Arial" panose="020B0604020202020204" pitchFamily="34" charset="0"/>
                <a:cs typeface="Arial" panose="020B0604020202020204" pitchFamily="34" charset="0"/>
              </a:rPr>
              <a:t> – </a:t>
            </a:r>
            <a:r>
              <a:rPr lang="pt-BR" sz="2000" dirty="0" err="1">
                <a:latin typeface="Arial" panose="020B0604020202020204" pitchFamily="34" charset="0"/>
                <a:cs typeface="Arial" panose="020B0604020202020204" pitchFamily="34" charset="0"/>
              </a:rPr>
              <a:t>Dba</a:t>
            </a:r>
            <a:r>
              <a:rPr lang="pt-BR" sz="2000" dirty="0">
                <a:latin typeface="Arial" panose="020B0604020202020204" pitchFamily="34" charset="0"/>
                <a:cs typeface="Arial" panose="020B0604020202020204" pitchFamily="34" charset="0"/>
              </a:rPr>
              <a:t> especialista em conceitos de melhorias de consultas e </a:t>
            </a:r>
            <a:r>
              <a:rPr lang="pt-BR" sz="2000" dirty="0" err="1">
                <a:latin typeface="Arial" panose="020B0604020202020204" pitchFamily="34" charset="0"/>
                <a:cs typeface="Arial" panose="020B0604020202020204" pitchFamily="34" charset="0"/>
              </a:rPr>
              <a:t>execuções</a:t>
            </a:r>
            <a:r>
              <a:rPr lang="pt-BR" sz="2000" dirty="0">
                <a:latin typeface="Arial" panose="020B0604020202020204" pitchFamily="34" charset="0"/>
                <a:cs typeface="Arial" panose="020B0604020202020204" pitchFamily="34" charset="0"/>
              </a:rPr>
              <a:t> (</a:t>
            </a:r>
            <a:r>
              <a:rPr lang="pt-BR" sz="2000" dirty="0" err="1">
                <a:latin typeface="Arial" panose="020B0604020202020204" pitchFamily="34" charset="0"/>
                <a:cs typeface="Arial" panose="020B0604020202020204" pitchFamily="34" charset="0"/>
              </a:rPr>
              <a:t>tunning</a:t>
            </a:r>
            <a:r>
              <a:rPr lang="pt-BR" sz="2000" dirty="0">
                <a:latin typeface="Arial" panose="020B0604020202020204" pitchFamily="34" charset="0"/>
                <a:cs typeface="Arial" panose="020B0604020202020204" pitchFamily="34" charset="0"/>
              </a:rPr>
              <a:t>). Possui expertise maior no acompanhamento e </a:t>
            </a:r>
            <a:r>
              <a:rPr lang="pt-BR" sz="2000" dirty="0" err="1">
                <a:latin typeface="Arial" panose="020B0604020202020204" pitchFamily="34" charset="0"/>
                <a:cs typeface="Arial" panose="020B0604020202020204" pitchFamily="34" charset="0"/>
              </a:rPr>
              <a:t>sugestões</a:t>
            </a:r>
            <a:r>
              <a:rPr lang="pt-BR" sz="2000" dirty="0">
                <a:latin typeface="Arial" panose="020B0604020202020204" pitchFamily="34" charset="0"/>
                <a:cs typeface="Arial" panose="020B0604020202020204" pitchFamily="34" charset="0"/>
              </a:rPr>
              <a:t> de desenvolvimento no banco de dados. </a:t>
            </a:r>
          </a:p>
          <a:p>
            <a:pPr algn="just"/>
            <a:endParaRPr lang="pt-BR" sz="2000" dirty="0">
              <a:latin typeface="Arial" panose="020B0604020202020204" pitchFamily="34" charset="0"/>
              <a:cs typeface="Arial" panose="020B0604020202020204" pitchFamily="34" charset="0"/>
            </a:endParaRPr>
          </a:p>
          <a:p>
            <a:pPr algn="just"/>
            <a:r>
              <a:rPr lang="pt-BR" sz="2000" b="1" dirty="0">
                <a:latin typeface="Arial" panose="020B0604020202020204" pitchFamily="34" charset="0"/>
                <a:cs typeface="Arial" panose="020B0604020202020204" pitchFamily="34" charset="0"/>
              </a:rPr>
              <a:t>Infraestrutura</a:t>
            </a:r>
            <a:r>
              <a:rPr lang="pt-BR" sz="2000" dirty="0">
                <a:latin typeface="Arial" panose="020B0604020202020204" pitchFamily="34" charset="0"/>
                <a:cs typeface="Arial" panose="020B0604020202020204" pitchFamily="34" charset="0"/>
              </a:rPr>
              <a:t> – </a:t>
            </a:r>
            <a:r>
              <a:rPr lang="pt-BR" sz="2000" dirty="0" err="1">
                <a:latin typeface="Arial" panose="020B0604020202020204" pitchFamily="34" charset="0"/>
                <a:cs typeface="Arial" panose="020B0604020202020204" pitchFamily="34" charset="0"/>
              </a:rPr>
              <a:t>Dba</a:t>
            </a:r>
            <a:r>
              <a:rPr lang="pt-BR" sz="2000" dirty="0">
                <a:latin typeface="Arial" panose="020B0604020202020204" pitchFamily="34" charset="0"/>
                <a:cs typeface="Arial" panose="020B0604020202020204" pitchFamily="34" charset="0"/>
              </a:rPr>
              <a:t> especialista no desenho de </a:t>
            </a:r>
            <a:r>
              <a:rPr lang="pt-BR" sz="2000" dirty="0" err="1">
                <a:latin typeface="Arial" panose="020B0604020202020204" pitchFamily="34" charset="0"/>
                <a:cs typeface="Arial" panose="020B0604020202020204" pitchFamily="34" charset="0"/>
              </a:rPr>
              <a:t>soluções</a:t>
            </a:r>
            <a:r>
              <a:rPr lang="pt-BR" sz="2000" dirty="0">
                <a:latin typeface="Arial" panose="020B0604020202020204" pitchFamily="34" charset="0"/>
                <a:cs typeface="Arial" panose="020B0604020202020204" pitchFamily="34" charset="0"/>
              </a:rPr>
              <a:t> envolvendo hardware e armazenamento  (</a:t>
            </a:r>
            <a:r>
              <a:rPr lang="pt-BR" sz="2000" dirty="0" err="1">
                <a:latin typeface="Arial" panose="020B0604020202020204" pitchFamily="34" charset="0"/>
                <a:cs typeface="Arial" panose="020B0604020202020204" pitchFamily="34" charset="0"/>
              </a:rPr>
              <a:t>storage</a:t>
            </a:r>
            <a:r>
              <a:rPr lang="pt-BR" sz="2000" dirty="0">
                <a:latin typeface="Arial" panose="020B0604020202020204" pitchFamily="34" charset="0"/>
                <a:cs typeface="Arial" panose="020B0604020202020204" pitchFamily="34" charset="0"/>
              </a:rPr>
              <a:t>). Possui afinidade no desenho de projetos de alta disponibilidade e grandes cargas de processamento. </a:t>
            </a:r>
          </a:p>
          <a:p>
            <a:endParaRPr lang="pt-BR" dirty="0"/>
          </a:p>
        </p:txBody>
      </p:sp>
      <p:sp>
        <p:nvSpPr>
          <p:cNvPr id="3" name="Espaço Reservado para Texto 2">
            <a:extLst>
              <a:ext uri="{FF2B5EF4-FFF2-40B4-BE49-F238E27FC236}">
                <a16:creationId xmlns:a16="http://schemas.microsoft.com/office/drawing/2014/main" id="{FF556A46-3B1A-4133-BCE6-396C6C940404}"/>
              </a:ext>
            </a:extLst>
          </p:cNvPr>
          <p:cNvSpPr>
            <a:spLocks noGrp="1"/>
          </p:cNvSpPr>
          <p:nvPr>
            <p:ph type="body" sz="quarter" idx="13"/>
          </p:nvPr>
        </p:nvSpPr>
        <p:spPr/>
        <p:txBody>
          <a:bodyPr>
            <a:normAutofit lnSpcReduction="10000"/>
          </a:bodyPr>
          <a:lstStyle/>
          <a:p>
            <a:r>
              <a:rPr lang="pt-BR" dirty="0"/>
              <a:t>Carreira DBA</a:t>
            </a:r>
          </a:p>
          <a:p>
            <a:endParaRPr lang="pt-BR" dirty="0"/>
          </a:p>
        </p:txBody>
      </p:sp>
    </p:spTree>
    <p:extLst>
      <p:ext uri="{BB962C8B-B14F-4D97-AF65-F5344CB8AC3E}">
        <p14:creationId xmlns:p14="http://schemas.microsoft.com/office/powerpoint/2010/main" val="953908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5D4F4BB9-E6EC-4625-96EB-A014249F97DD}"/>
              </a:ext>
            </a:extLst>
          </p:cNvPr>
          <p:cNvSpPr>
            <a:spLocks noGrp="1"/>
          </p:cNvSpPr>
          <p:nvPr>
            <p:ph idx="1"/>
          </p:nvPr>
        </p:nvSpPr>
        <p:spPr/>
        <p:txBody>
          <a:bodyPr>
            <a:normAutofit/>
          </a:bodyPr>
          <a:lstStyle/>
          <a:p>
            <a:r>
              <a:rPr lang="pt-BR" sz="2000" dirty="0">
                <a:latin typeface="Arial" panose="020B0604020202020204" pitchFamily="34" charset="0"/>
                <a:cs typeface="Arial" panose="020B0604020202020204" pitchFamily="34" charset="0"/>
              </a:rPr>
              <a:t>Um banco de dados relacional é um banco de dados que modela os dados de uma forma que eles sejam percebidos pelo usuário como tabelas, ou mais formalmente relações.</a:t>
            </a:r>
          </a:p>
          <a:p>
            <a:endParaRPr lang="pt-BR" sz="2000" dirty="0">
              <a:latin typeface="Arial" panose="020B0604020202020204" pitchFamily="34" charset="0"/>
              <a:cs typeface="Arial" panose="020B0604020202020204" pitchFamily="34" charset="0"/>
            </a:endParaRPr>
          </a:p>
          <a:p>
            <a:r>
              <a:rPr lang="pt-BR" sz="2000" dirty="0">
                <a:latin typeface="Arial" panose="020B0604020202020204" pitchFamily="34" charset="0"/>
                <a:cs typeface="Arial" panose="020B0604020202020204" pitchFamily="34" charset="0"/>
              </a:rPr>
              <a:t>Exemplo de um Sistema Relacional: </a:t>
            </a:r>
          </a:p>
          <a:p>
            <a:endParaRPr lang="pt-BR" sz="2000" dirty="0">
              <a:latin typeface="Arial" panose="020B0604020202020204" pitchFamily="34" charset="0"/>
              <a:cs typeface="Arial" panose="020B0604020202020204" pitchFamily="34" charset="0"/>
            </a:endParaRPr>
          </a:p>
          <a:p>
            <a:pPr marL="257175" indent="-257175"/>
            <a:r>
              <a:rPr lang="pt-BR" sz="2000" dirty="0">
                <a:latin typeface="Arial" panose="020B0604020202020204" pitchFamily="34" charset="0"/>
                <a:cs typeface="Arial" panose="020B0604020202020204" pitchFamily="34" charset="0"/>
              </a:rPr>
              <a:t>Oracle</a:t>
            </a:r>
          </a:p>
          <a:p>
            <a:pPr marL="257175" indent="-257175"/>
            <a:r>
              <a:rPr lang="pt-BR" sz="2000" dirty="0">
                <a:latin typeface="Arial" panose="020B0604020202020204" pitchFamily="34" charset="0"/>
                <a:cs typeface="Arial" panose="020B0604020202020204" pitchFamily="34" charset="0"/>
              </a:rPr>
              <a:t>SQL Server</a:t>
            </a:r>
          </a:p>
          <a:p>
            <a:pPr marL="257175" indent="-257175"/>
            <a:r>
              <a:rPr lang="pt-BR" sz="2000" dirty="0">
                <a:latin typeface="Arial" panose="020B0604020202020204" pitchFamily="34" charset="0"/>
                <a:cs typeface="Arial" panose="020B0604020202020204" pitchFamily="34" charset="0"/>
              </a:rPr>
              <a:t>MySQL</a:t>
            </a:r>
          </a:p>
          <a:p>
            <a:endParaRPr lang="pt-BR" sz="2000" dirty="0"/>
          </a:p>
        </p:txBody>
      </p:sp>
      <p:sp>
        <p:nvSpPr>
          <p:cNvPr id="3" name="Espaço Reservado para Texto 2">
            <a:extLst>
              <a:ext uri="{FF2B5EF4-FFF2-40B4-BE49-F238E27FC236}">
                <a16:creationId xmlns:a16="http://schemas.microsoft.com/office/drawing/2014/main" id="{87CAA9A3-5063-407D-8EED-02718366AD60}"/>
              </a:ext>
            </a:extLst>
          </p:cNvPr>
          <p:cNvSpPr>
            <a:spLocks noGrp="1"/>
          </p:cNvSpPr>
          <p:nvPr>
            <p:ph type="body" sz="quarter" idx="13"/>
          </p:nvPr>
        </p:nvSpPr>
        <p:spPr/>
        <p:txBody>
          <a:bodyPr>
            <a:normAutofit lnSpcReduction="10000"/>
          </a:bodyPr>
          <a:lstStyle/>
          <a:p>
            <a:r>
              <a:rPr lang="pt-BR" dirty="0">
                <a:latin typeface="Arial" panose="020B0604020202020204" pitchFamily="34" charset="0"/>
                <a:cs typeface="Arial" panose="020B0604020202020204" pitchFamily="34" charset="0"/>
              </a:rPr>
              <a:t>Banco de Dados Relacional</a:t>
            </a:r>
            <a:endParaRPr lang="pt-BR" dirty="0"/>
          </a:p>
        </p:txBody>
      </p:sp>
    </p:spTree>
    <p:extLst>
      <p:ext uri="{BB962C8B-B14F-4D97-AF65-F5344CB8AC3E}">
        <p14:creationId xmlns:p14="http://schemas.microsoft.com/office/powerpoint/2010/main" val="1139868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90A16965-8677-47D2-AD66-0E57B9A7B44A}"/>
              </a:ext>
            </a:extLst>
          </p:cNvPr>
          <p:cNvSpPr>
            <a:spLocks noGrp="1"/>
          </p:cNvSpPr>
          <p:nvPr>
            <p:ph idx="1"/>
          </p:nvPr>
        </p:nvSpPr>
        <p:spPr/>
        <p:txBody>
          <a:bodyPr/>
          <a:lstStyle/>
          <a:p>
            <a:r>
              <a:rPr lang="pt-BR" sz="2000" dirty="0">
                <a:latin typeface="Arial" panose="020B0604020202020204" pitchFamily="34" charset="0"/>
                <a:cs typeface="Arial" panose="020B0604020202020204" pitchFamily="34" charset="0"/>
              </a:rPr>
              <a:t>Um banco de dados não-relacional é um banco de dados que não usa o esquema de tabela de linhas e colunas encontrado na maioria dos sistemas de banco de dados tradicionais.</a:t>
            </a:r>
          </a:p>
          <a:p>
            <a:endParaRPr lang="pt-BR" dirty="0"/>
          </a:p>
          <a:p>
            <a:r>
              <a:rPr lang="pt-BR" sz="2000" dirty="0">
                <a:latin typeface="Arial" panose="020B0604020202020204" pitchFamily="34" charset="0"/>
                <a:cs typeface="Arial" panose="020B0604020202020204" pitchFamily="34" charset="0"/>
              </a:rPr>
              <a:t>Exemplo de um Sistema não Relacional: </a:t>
            </a:r>
          </a:p>
          <a:p>
            <a:endParaRPr lang="pt-BR" sz="2000" dirty="0">
              <a:latin typeface="Arial" panose="020B0604020202020204" pitchFamily="34" charset="0"/>
              <a:cs typeface="Arial" panose="020B0604020202020204" pitchFamily="34" charset="0"/>
            </a:endParaRPr>
          </a:p>
          <a:p>
            <a:endParaRPr lang="pt-BR" sz="2000" dirty="0">
              <a:latin typeface="Arial" panose="020B0604020202020204" pitchFamily="34" charset="0"/>
              <a:cs typeface="Arial" panose="020B0604020202020204" pitchFamily="34" charset="0"/>
            </a:endParaRPr>
          </a:p>
          <a:p>
            <a:pPr marL="257175" indent="-257175"/>
            <a:r>
              <a:rPr lang="pt-BR" sz="2000" dirty="0">
                <a:latin typeface="Arial" panose="020B0604020202020204" pitchFamily="34" charset="0"/>
                <a:cs typeface="Arial" panose="020B0604020202020204" pitchFamily="34" charset="0"/>
              </a:rPr>
              <a:t>Mongo DB</a:t>
            </a:r>
          </a:p>
          <a:p>
            <a:endParaRPr lang="pt-BR" dirty="0"/>
          </a:p>
        </p:txBody>
      </p:sp>
      <p:sp>
        <p:nvSpPr>
          <p:cNvPr id="3" name="Espaço Reservado para Texto 2">
            <a:extLst>
              <a:ext uri="{FF2B5EF4-FFF2-40B4-BE49-F238E27FC236}">
                <a16:creationId xmlns:a16="http://schemas.microsoft.com/office/drawing/2014/main" id="{CCD749CC-6C64-4913-A32D-D9097C079530}"/>
              </a:ext>
            </a:extLst>
          </p:cNvPr>
          <p:cNvSpPr>
            <a:spLocks noGrp="1"/>
          </p:cNvSpPr>
          <p:nvPr>
            <p:ph type="body" sz="quarter" idx="13"/>
          </p:nvPr>
        </p:nvSpPr>
        <p:spPr/>
        <p:txBody>
          <a:bodyPr>
            <a:normAutofit lnSpcReduction="10000"/>
          </a:bodyPr>
          <a:lstStyle/>
          <a:p>
            <a:r>
              <a:rPr lang="pt-BR" dirty="0">
                <a:latin typeface="Arial" panose="020B0604020202020204" pitchFamily="34" charset="0"/>
                <a:cs typeface="Arial" panose="020B0604020202020204" pitchFamily="34" charset="0"/>
              </a:rPr>
              <a:t>Banco de Dados Não Relacional</a:t>
            </a:r>
            <a:endParaRPr lang="pt-BR" dirty="0"/>
          </a:p>
          <a:p>
            <a:endParaRPr lang="pt-BR" dirty="0"/>
          </a:p>
        </p:txBody>
      </p:sp>
    </p:spTree>
    <p:extLst>
      <p:ext uri="{BB962C8B-B14F-4D97-AF65-F5344CB8AC3E}">
        <p14:creationId xmlns:p14="http://schemas.microsoft.com/office/powerpoint/2010/main" val="1780452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CCD749CC-6C64-4913-A32D-D9097C079530}"/>
              </a:ext>
            </a:extLst>
          </p:cNvPr>
          <p:cNvSpPr>
            <a:spLocks noGrp="1"/>
          </p:cNvSpPr>
          <p:nvPr>
            <p:ph type="body" sz="quarter" idx="13"/>
          </p:nvPr>
        </p:nvSpPr>
        <p:spPr>
          <a:xfrm>
            <a:off x="752936" y="2460256"/>
            <a:ext cx="8178000" cy="1419286"/>
          </a:xfrm>
        </p:spPr>
        <p:txBody>
          <a:bodyPr>
            <a:normAutofit/>
          </a:bodyPr>
          <a:lstStyle/>
          <a:p>
            <a:r>
              <a:rPr lang="pt-BR" dirty="0">
                <a:latin typeface="Arial" panose="020B0604020202020204" pitchFamily="34" charset="0"/>
                <a:cs typeface="Arial" panose="020B0604020202020204" pitchFamily="34" charset="0"/>
              </a:rPr>
              <a:t>O que os Sistemas de Banco de Dados relacionais tem em comum?</a:t>
            </a:r>
          </a:p>
          <a:p>
            <a:endParaRPr lang="pt-BR" dirty="0"/>
          </a:p>
        </p:txBody>
      </p:sp>
    </p:spTree>
    <p:extLst>
      <p:ext uri="{BB962C8B-B14F-4D97-AF65-F5344CB8AC3E}">
        <p14:creationId xmlns:p14="http://schemas.microsoft.com/office/powerpoint/2010/main" val="3479416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CCD749CC-6C64-4913-A32D-D9097C079530}"/>
              </a:ext>
            </a:extLst>
          </p:cNvPr>
          <p:cNvSpPr>
            <a:spLocks noGrp="1"/>
          </p:cNvSpPr>
          <p:nvPr>
            <p:ph type="body" sz="quarter" idx="13"/>
          </p:nvPr>
        </p:nvSpPr>
        <p:spPr>
          <a:xfrm>
            <a:off x="2609202" y="2504645"/>
            <a:ext cx="3925596" cy="1419286"/>
          </a:xfrm>
        </p:spPr>
        <p:txBody>
          <a:bodyPr>
            <a:normAutofit/>
          </a:bodyPr>
          <a:lstStyle/>
          <a:p>
            <a:r>
              <a:rPr lang="pt-BR" dirty="0">
                <a:latin typeface="Arial" panose="020B0604020202020204" pitchFamily="34" charset="0"/>
                <a:cs typeface="Arial" panose="020B0604020202020204" pitchFamily="34" charset="0"/>
              </a:rPr>
              <a:t>Resposta:</a:t>
            </a:r>
          </a:p>
          <a:p>
            <a:r>
              <a:rPr lang="pt-BR" dirty="0">
                <a:solidFill>
                  <a:srgbClr val="7030A0"/>
                </a:solidFill>
                <a:latin typeface="Arial" panose="020B0604020202020204" pitchFamily="34" charset="0"/>
                <a:cs typeface="Arial" panose="020B0604020202020204" pitchFamily="34" charset="0"/>
              </a:rPr>
              <a:t>Linguagem SQL</a:t>
            </a:r>
          </a:p>
          <a:p>
            <a:endParaRPr lang="pt-BR" dirty="0"/>
          </a:p>
        </p:txBody>
      </p:sp>
    </p:spTree>
    <p:extLst>
      <p:ext uri="{BB962C8B-B14F-4D97-AF65-F5344CB8AC3E}">
        <p14:creationId xmlns:p14="http://schemas.microsoft.com/office/powerpoint/2010/main" val="3382878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21ACA642-4E28-46DC-8D32-CCDD19E8CD89}"/>
              </a:ext>
            </a:extLst>
          </p:cNvPr>
          <p:cNvSpPr>
            <a:spLocks noGrp="1"/>
          </p:cNvSpPr>
          <p:nvPr>
            <p:ph idx="1"/>
          </p:nvPr>
        </p:nvSpPr>
        <p:spPr/>
        <p:txBody>
          <a:bodyPr/>
          <a:lstStyle/>
          <a:p>
            <a:r>
              <a:rPr lang="pt-BR" sz="2000" dirty="0">
                <a:latin typeface="Arial" panose="020B0604020202020204" pitchFamily="34" charset="0"/>
                <a:cs typeface="Arial" panose="020B0604020202020204" pitchFamily="34" charset="0"/>
              </a:rPr>
              <a:t>Uma grande parte dos sistemas de bancos de dados desenvolvidos recentemente ainda é relacional, devido ao fato de que, nestes sistemas, o acesso aos dados é mais rápido, eficiente, além de ser baseado em noções simples e intuitivas. </a:t>
            </a:r>
          </a:p>
          <a:p>
            <a:endParaRPr lang="pt-BR" dirty="0"/>
          </a:p>
        </p:txBody>
      </p:sp>
      <p:sp>
        <p:nvSpPr>
          <p:cNvPr id="3" name="Espaço Reservado para Texto 2">
            <a:extLst>
              <a:ext uri="{FF2B5EF4-FFF2-40B4-BE49-F238E27FC236}">
                <a16:creationId xmlns:a16="http://schemas.microsoft.com/office/drawing/2014/main" id="{51DCB7B1-5DCF-4E14-8B8D-9AF3DC35C588}"/>
              </a:ext>
            </a:extLst>
          </p:cNvPr>
          <p:cNvSpPr>
            <a:spLocks noGrp="1"/>
          </p:cNvSpPr>
          <p:nvPr>
            <p:ph type="body" sz="quarter" idx="13"/>
          </p:nvPr>
        </p:nvSpPr>
        <p:spPr/>
        <p:txBody>
          <a:bodyPr>
            <a:normAutofit lnSpcReduction="10000"/>
          </a:bodyPr>
          <a:lstStyle/>
          <a:p>
            <a:r>
              <a:rPr lang="pt-BR" dirty="0"/>
              <a:t>Modelagem de Dados</a:t>
            </a:r>
          </a:p>
        </p:txBody>
      </p:sp>
      <p:pic>
        <p:nvPicPr>
          <p:cNvPr id="8" name="Imagem 7">
            <a:extLst>
              <a:ext uri="{FF2B5EF4-FFF2-40B4-BE49-F238E27FC236}">
                <a16:creationId xmlns:a16="http://schemas.microsoft.com/office/drawing/2014/main" id="{5F6CB81E-E67E-4D44-BC7E-F9C3E1CD8EE1}"/>
              </a:ext>
            </a:extLst>
          </p:cNvPr>
          <p:cNvPicPr>
            <a:picLocks noChangeAspect="1"/>
          </p:cNvPicPr>
          <p:nvPr/>
        </p:nvPicPr>
        <p:blipFill rotWithShape="1">
          <a:blip r:embed="rId2"/>
          <a:srcRect l="40291" t="12157" r="40000" b="8274"/>
          <a:stretch/>
        </p:blipFill>
        <p:spPr>
          <a:xfrm rot="4353695">
            <a:off x="3382392" y="1873189"/>
            <a:ext cx="1802168" cy="4092607"/>
          </a:xfrm>
          <a:prstGeom prst="rect">
            <a:avLst/>
          </a:prstGeom>
        </p:spPr>
      </p:pic>
    </p:spTree>
    <p:extLst>
      <p:ext uri="{BB962C8B-B14F-4D97-AF65-F5344CB8AC3E}">
        <p14:creationId xmlns:p14="http://schemas.microsoft.com/office/powerpoint/2010/main" val="1121298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DA0C74ED-FACE-4922-98B9-751EF3E309A2}"/>
              </a:ext>
            </a:extLst>
          </p:cNvPr>
          <p:cNvSpPr>
            <a:spLocks noGrp="1"/>
          </p:cNvSpPr>
          <p:nvPr>
            <p:ph idx="1"/>
          </p:nvPr>
        </p:nvSpPr>
        <p:spPr/>
        <p:txBody>
          <a:bodyPr/>
          <a:lstStyle/>
          <a:p>
            <a:pPr algn="just"/>
            <a:r>
              <a:rPr lang="pt-BR" sz="2000" dirty="0">
                <a:latin typeface="Arial" panose="020B0604020202020204" pitchFamily="34" charset="0"/>
                <a:cs typeface="Arial" panose="020B0604020202020204" pitchFamily="34" charset="0"/>
              </a:rPr>
              <a:t>Num sistema relacional: </a:t>
            </a:r>
          </a:p>
          <a:p>
            <a:pPr algn="just"/>
            <a:endParaRPr lang="pt-BR" sz="2000" dirty="0">
              <a:latin typeface="Arial" panose="020B0604020202020204" pitchFamily="34" charset="0"/>
              <a:cs typeface="Arial" panose="020B0604020202020204" pitchFamily="34" charset="0"/>
            </a:endParaRPr>
          </a:p>
          <a:p>
            <a:pPr marL="342900" indent="-342900" algn="just">
              <a:buFont typeface="+mj-lt"/>
              <a:buAutoNum type="arabicPeriod"/>
            </a:pPr>
            <a:r>
              <a:rPr lang="pt-BR" sz="2000" dirty="0">
                <a:latin typeface="Arial" panose="020B0604020202020204" pitchFamily="34" charset="0"/>
                <a:cs typeface="Arial" panose="020B0604020202020204" pitchFamily="34" charset="0"/>
              </a:rPr>
              <a:t>Os dados são organizados e visualizados na forma de tabelas; </a:t>
            </a:r>
          </a:p>
          <a:p>
            <a:pPr marL="342900" indent="-342900" algn="just">
              <a:buFont typeface="+mj-lt"/>
              <a:buAutoNum type="arabicPeriod"/>
            </a:pPr>
            <a:r>
              <a:rPr lang="pt-BR" sz="2000" dirty="0">
                <a:latin typeface="Arial" panose="020B0604020202020204" pitchFamily="34" charset="0"/>
                <a:cs typeface="Arial" panose="020B0604020202020204" pitchFamily="34" charset="0"/>
              </a:rPr>
              <a:t>É possível gerar novas tabelas a partir das antigas; </a:t>
            </a:r>
          </a:p>
          <a:p>
            <a:pPr marL="342900" indent="-342900" algn="just">
              <a:buFont typeface="+mj-lt"/>
              <a:buAutoNum type="arabicPeriod"/>
            </a:pPr>
            <a:r>
              <a:rPr lang="pt-BR" sz="2000" dirty="0">
                <a:latin typeface="Arial" panose="020B0604020202020204" pitchFamily="34" charset="0"/>
                <a:cs typeface="Arial" panose="020B0604020202020204" pitchFamily="34" charset="0"/>
              </a:rPr>
              <a:t>As tabelas são ligadas através de relações entre os dados. </a:t>
            </a:r>
          </a:p>
          <a:p>
            <a:endParaRPr lang="pt-BR" dirty="0"/>
          </a:p>
        </p:txBody>
      </p:sp>
      <p:sp>
        <p:nvSpPr>
          <p:cNvPr id="3" name="Espaço Reservado para Texto 2">
            <a:extLst>
              <a:ext uri="{FF2B5EF4-FFF2-40B4-BE49-F238E27FC236}">
                <a16:creationId xmlns:a16="http://schemas.microsoft.com/office/drawing/2014/main" id="{60254992-F970-434E-9369-AEB57C2D38AB}"/>
              </a:ext>
            </a:extLst>
          </p:cNvPr>
          <p:cNvSpPr>
            <a:spLocks noGrp="1"/>
          </p:cNvSpPr>
          <p:nvPr>
            <p:ph type="body" sz="quarter" idx="13"/>
          </p:nvPr>
        </p:nvSpPr>
        <p:spPr/>
        <p:txBody>
          <a:bodyPr>
            <a:normAutofit lnSpcReduction="10000"/>
          </a:bodyPr>
          <a:lstStyle/>
          <a:p>
            <a:r>
              <a:rPr lang="pt-BR" dirty="0"/>
              <a:t>Modelagem de Dados</a:t>
            </a:r>
          </a:p>
          <a:p>
            <a:endParaRPr lang="pt-BR" dirty="0"/>
          </a:p>
        </p:txBody>
      </p:sp>
    </p:spTree>
    <p:extLst>
      <p:ext uri="{BB962C8B-B14F-4D97-AF65-F5344CB8AC3E}">
        <p14:creationId xmlns:p14="http://schemas.microsoft.com/office/powerpoint/2010/main" val="2815207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CBF953B1-3211-47B3-A76C-4BBACEE6361A}"/>
              </a:ext>
            </a:extLst>
          </p:cNvPr>
          <p:cNvSpPr>
            <a:spLocks noGrp="1"/>
          </p:cNvSpPr>
          <p:nvPr>
            <p:ph idx="1"/>
          </p:nvPr>
        </p:nvSpPr>
        <p:spPr/>
        <p:txBody>
          <a:bodyPr/>
          <a:lstStyle/>
          <a:p>
            <a:r>
              <a:rPr lang="pt-BR" sz="2000" dirty="0">
                <a:latin typeface="Arial" panose="020B0604020202020204" pitchFamily="34" charset="0"/>
                <a:cs typeface="Arial" panose="020B0604020202020204" pitchFamily="34" charset="0"/>
              </a:rPr>
              <a:t>O elemento fundamental de um banco de dados relacional é a </a:t>
            </a:r>
            <a:r>
              <a:rPr lang="pt-BR" sz="2000" b="1" dirty="0">
                <a:latin typeface="Arial" panose="020B0604020202020204" pitchFamily="34" charset="0"/>
                <a:cs typeface="Arial" panose="020B0604020202020204" pitchFamily="34" charset="0"/>
              </a:rPr>
              <a:t>tabela</a:t>
            </a:r>
            <a:r>
              <a:rPr lang="pt-BR" sz="2000" dirty="0">
                <a:latin typeface="Arial" panose="020B0604020202020204" pitchFamily="34" charset="0"/>
                <a:cs typeface="Arial" panose="020B0604020202020204" pitchFamily="34" charset="0"/>
              </a:rPr>
              <a:t>. Uma tabela é um elemento do banco de dados que consiste num conjunto de dados dispostos em forma de linhas com conjuntos idênticos de propriedades </a:t>
            </a:r>
            <a:r>
              <a:rPr lang="pt-BR" sz="2000" b="1" dirty="0">
                <a:latin typeface="Arial" panose="020B0604020202020204" pitchFamily="34" charset="0"/>
                <a:cs typeface="Arial" panose="020B0604020202020204" pitchFamily="34" charset="0"/>
              </a:rPr>
              <a:t>(registros). </a:t>
            </a:r>
            <a:r>
              <a:rPr lang="pt-BR" sz="2000" dirty="0">
                <a:latin typeface="Arial" panose="020B0604020202020204" pitchFamily="34" charset="0"/>
                <a:cs typeface="Arial" panose="020B0604020202020204" pitchFamily="34" charset="0"/>
              </a:rPr>
              <a:t>Os valores associados aos registros da tabela aparecem em colunas </a:t>
            </a:r>
            <a:r>
              <a:rPr lang="pt-BR" sz="2000" b="1" dirty="0">
                <a:latin typeface="Arial" panose="020B0604020202020204" pitchFamily="34" charset="0"/>
                <a:cs typeface="Arial" panose="020B0604020202020204" pitchFamily="34" charset="0"/>
              </a:rPr>
              <a:t>(campos). </a:t>
            </a:r>
          </a:p>
          <a:p>
            <a:endParaRPr lang="pt-BR" dirty="0"/>
          </a:p>
        </p:txBody>
      </p:sp>
      <p:sp>
        <p:nvSpPr>
          <p:cNvPr id="3" name="Espaço Reservado para Texto 2">
            <a:extLst>
              <a:ext uri="{FF2B5EF4-FFF2-40B4-BE49-F238E27FC236}">
                <a16:creationId xmlns:a16="http://schemas.microsoft.com/office/drawing/2014/main" id="{4B44BD91-5379-4AF5-B861-FC071D66E557}"/>
              </a:ext>
            </a:extLst>
          </p:cNvPr>
          <p:cNvSpPr>
            <a:spLocks noGrp="1"/>
          </p:cNvSpPr>
          <p:nvPr>
            <p:ph type="body" sz="quarter" idx="13"/>
          </p:nvPr>
        </p:nvSpPr>
        <p:spPr/>
        <p:txBody>
          <a:bodyPr>
            <a:normAutofit lnSpcReduction="10000"/>
          </a:bodyPr>
          <a:lstStyle/>
          <a:p>
            <a:r>
              <a:rPr lang="pt-BR" dirty="0">
                <a:latin typeface="Arial" panose="020B0604020202020204" pitchFamily="34" charset="0"/>
                <a:cs typeface="Arial" panose="020B0604020202020204" pitchFamily="34" charset="0"/>
              </a:rPr>
              <a:t>Conceitos básicos</a:t>
            </a:r>
            <a:endParaRPr lang="pt-BR" dirty="0"/>
          </a:p>
        </p:txBody>
      </p:sp>
      <p:pic>
        <p:nvPicPr>
          <p:cNvPr id="4" name="Imagem 3">
            <a:extLst>
              <a:ext uri="{FF2B5EF4-FFF2-40B4-BE49-F238E27FC236}">
                <a16:creationId xmlns:a16="http://schemas.microsoft.com/office/drawing/2014/main" id="{06F7E3CB-103B-45ED-BAEB-BB599D0E66B6}"/>
              </a:ext>
            </a:extLst>
          </p:cNvPr>
          <p:cNvPicPr>
            <a:picLocks noChangeAspect="1"/>
          </p:cNvPicPr>
          <p:nvPr/>
        </p:nvPicPr>
        <p:blipFill rotWithShape="1">
          <a:blip r:embed="rId2"/>
          <a:srcRect l="971" t="21996" r="40971" b="38443"/>
          <a:stretch/>
        </p:blipFill>
        <p:spPr>
          <a:xfrm>
            <a:off x="781235" y="3000651"/>
            <a:ext cx="7365307" cy="2823099"/>
          </a:xfrm>
          <a:prstGeom prst="rect">
            <a:avLst/>
          </a:prstGeom>
        </p:spPr>
      </p:pic>
      <p:sp>
        <p:nvSpPr>
          <p:cNvPr id="5" name="Retângulo 4">
            <a:extLst>
              <a:ext uri="{FF2B5EF4-FFF2-40B4-BE49-F238E27FC236}">
                <a16:creationId xmlns:a16="http://schemas.microsoft.com/office/drawing/2014/main" id="{2643244F-C20D-4657-94DA-EB8BA4543474}"/>
              </a:ext>
            </a:extLst>
          </p:cNvPr>
          <p:cNvSpPr/>
          <p:nvPr/>
        </p:nvSpPr>
        <p:spPr>
          <a:xfrm>
            <a:off x="2104008" y="3429000"/>
            <a:ext cx="5051394" cy="2314852"/>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
        <p:nvSpPr>
          <p:cNvPr id="6" name="CaixaDeTexto 5">
            <a:extLst>
              <a:ext uri="{FF2B5EF4-FFF2-40B4-BE49-F238E27FC236}">
                <a16:creationId xmlns:a16="http://schemas.microsoft.com/office/drawing/2014/main" id="{607C25AE-13BF-4B33-B79A-7DF375BD362A}"/>
              </a:ext>
            </a:extLst>
          </p:cNvPr>
          <p:cNvSpPr txBox="1"/>
          <p:nvPr/>
        </p:nvSpPr>
        <p:spPr>
          <a:xfrm>
            <a:off x="1994240" y="5671494"/>
            <a:ext cx="821059" cy="369332"/>
          </a:xfrm>
          <a:prstGeom prst="rect">
            <a:avLst/>
          </a:prstGeom>
          <a:noFill/>
        </p:spPr>
        <p:txBody>
          <a:bodyPr wrap="none" rtlCol="0">
            <a:spAutoFit/>
          </a:bodyPr>
          <a:lstStyle/>
          <a:p>
            <a:r>
              <a:rPr lang="pt-BR" b="1" dirty="0">
                <a:solidFill>
                  <a:schemeClr val="accent2"/>
                </a:solidFill>
              </a:rPr>
              <a:t>Tabela</a:t>
            </a:r>
          </a:p>
        </p:txBody>
      </p:sp>
      <p:sp>
        <p:nvSpPr>
          <p:cNvPr id="8" name="Retângulo 7">
            <a:extLst>
              <a:ext uri="{FF2B5EF4-FFF2-40B4-BE49-F238E27FC236}">
                <a16:creationId xmlns:a16="http://schemas.microsoft.com/office/drawing/2014/main" id="{A1F3855C-BDF0-4F2F-BDAF-202F8F844D47}"/>
              </a:ext>
            </a:extLst>
          </p:cNvPr>
          <p:cNvSpPr/>
          <p:nvPr/>
        </p:nvSpPr>
        <p:spPr>
          <a:xfrm>
            <a:off x="2503503" y="3852028"/>
            <a:ext cx="1429305" cy="390617"/>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9" name="CaixaDeTexto 8">
            <a:extLst>
              <a:ext uri="{FF2B5EF4-FFF2-40B4-BE49-F238E27FC236}">
                <a16:creationId xmlns:a16="http://schemas.microsoft.com/office/drawing/2014/main" id="{CA0606B8-2B94-46AD-9E1B-43D8280FB72D}"/>
              </a:ext>
            </a:extLst>
          </p:cNvPr>
          <p:cNvSpPr txBox="1"/>
          <p:nvPr/>
        </p:nvSpPr>
        <p:spPr>
          <a:xfrm>
            <a:off x="2736509" y="3466860"/>
            <a:ext cx="846707" cy="369332"/>
          </a:xfrm>
          <a:prstGeom prst="rect">
            <a:avLst/>
          </a:prstGeom>
          <a:noFill/>
        </p:spPr>
        <p:txBody>
          <a:bodyPr wrap="none" rtlCol="0">
            <a:spAutoFit/>
          </a:bodyPr>
          <a:lstStyle/>
          <a:p>
            <a:r>
              <a:rPr lang="pt-BR" b="1" dirty="0">
                <a:solidFill>
                  <a:schemeClr val="accent1"/>
                </a:solidFill>
              </a:rPr>
              <a:t>Campo</a:t>
            </a:r>
          </a:p>
        </p:txBody>
      </p:sp>
      <p:sp>
        <p:nvSpPr>
          <p:cNvPr id="10" name="Retângulo 9">
            <a:extLst>
              <a:ext uri="{FF2B5EF4-FFF2-40B4-BE49-F238E27FC236}">
                <a16:creationId xmlns:a16="http://schemas.microsoft.com/office/drawing/2014/main" id="{4E3C93B0-D839-4CD7-B31D-A19983758F85}"/>
              </a:ext>
            </a:extLst>
          </p:cNvPr>
          <p:cNvSpPr/>
          <p:nvPr/>
        </p:nvSpPr>
        <p:spPr>
          <a:xfrm>
            <a:off x="2503503" y="4234649"/>
            <a:ext cx="4287914" cy="428477"/>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1" name="CaixaDeTexto 10">
            <a:extLst>
              <a:ext uri="{FF2B5EF4-FFF2-40B4-BE49-F238E27FC236}">
                <a16:creationId xmlns:a16="http://schemas.microsoft.com/office/drawing/2014/main" id="{148F488D-BAF8-4732-96F2-7172BCD01FE4}"/>
              </a:ext>
            </a:extLst>
          </p:cNvPr>
          <p:cNvSpPr txBox="1"/>
          <p:nvPr/>
        </p:nvSpPr>
        <p:spPr>
          <a:xfrm>
            <a:off x="4161589" y="4617207"/>
            <a:ext cx="971741" cy="369332"/>
          </a:xfrm>
          <a:prstGeom prst="rect">
            <a:avLst/>
          </a:prstGeom>
          <a:noFill/>
        </p:spPr>
        <p:txBody>
          <a:bodyPr wrap="none" rtlCol="0">
            <a:spAutoFit/>
          </a:bodyPr>
          <a:lstStyle/>
          <a:p>
            <a:r>
              <a:rPr lang="pt-BR" b="1" dirty="0">
                <a:solidFill>
                  <a:schemeClr val="accent6"/>
                </a:solidFill>
              </a:rPr>
              <a:t>Registro</a:t>
            </a:r>
          </a:p>
        </p:txBody>
      </p:sp>
      <p:sp>
        <p:nvSpPr>
          <p:cNvPr id="12" name="Retângulo 11">
            <a:extLst>
              <a:ext uri="{FF2B5EF4-FFF2-40B4-BE49-F238E27FC236}">
                <a16:creationId xmlns:a16="http://schemas.microsoft.com/office/drawing/2014/main" id="{93DAEFBB-9A34-49DD-9E92-70759A8840C6}"/>
              </a:ext>
            </a:extLst>
          </p:cNvPr>
          <p:cNvSpPr/>
          <p:nvPr/>
        </p:nvSpPr>
        <p:spPr>
          <a:xfrm>
            <a:off x="2503503" y="5016339"/>
            <a:ext cx="1429305" cy="414576"/>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3" name="CaixaDeTexto 12">
            <a:extLst>
              <a:ext uri="{FF2B5EF4-FFF2-40B4-BE49-F238E27FC236}">
                <a16:creationId xmlns:a16="http://schemas.microsoft.com/office/drawing/2014/main" id="{72196ED9-9CD8-41DE-ACF6-FD633DDCF4A2}"/>
              </a:ext>
            </a:extLst>
          </p:cNvPr>
          <p:cNvSpPr txBox="1"/>
          <p:nvPr/>
        </p:nvSpPr>
        <p:spPr>
          <a:xfrm>
            <a:off x="2688758" y="5385916"/>
            <a:ext cx="992579" cy="369332"/>
          </a:xfrm>
          <a:prstGeom prst="rect">
            <a:avLst/>
          </a:prstGeom>
          <a:noFill/>
        </p:spPr>
        <p:txBody>
          <a:bodyPr wrap="none" rtlCol="0">
            <a:spAutoFit/>
          </a:bodyPr>
          <a:lstStyle/>
          <a:p>
            <a:r>
              <a:rPr lang="pt-BR" b="1" dirty="0">
                <a:solidFill>
                  <a:schemeClr val="accent4"/>
                </a:solidFill>
              </a:rPr>
              <a:t>Atributo</a:t>
            </a:r>
          </a:p>
        </p:txBody>
      </p:sp>
    </p:spTree>
    <p:extLst>
      <p:ext uri="{BB962C8B-B14F-4D97-AF65-F5344CB8AC3E}">
        <p14:creationId xmlns:p14="http://schemas.microsoft.com/office/powerpoint/2010/main" val="93446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E37ED698-FF5B-4966-8CF5-C4D017960E1F}"/>
              </a:ext>
            </a:extLst>
          </p:cNvPr>
          <p:cNvSpPr>
            <a:spLocks noGrp="1"/>
          </p:cNvSpPr>
          <p:nvPr>
            <p:ph idx="1"/>
          </p:nvPr>
        </p:nvSpPr>
        <p:spPr/>
        <p:txBody>
          <a:bodyPr>
            <a:normAutofit/>
          </a:bodyPr>
          <a:lstStyle/>
          <a:p>
            <a:pPr algn="just"/>
            <a:r>
              <a:rPr lang="pt-BR" sz="2000" dirty="0">
                <a:latin typeface="Arial" panose="020B0604020202020204" pitchFamily="34" charset="0"/>
                <a:cs typeface="Arial" panose="020B0604020202020204" pitchFamily="34" charset="0"/>
              </a:rPr>
              <a:t>Um </a:t>
            </a:r>
            <a:r>
              <a:rPr lang="pt-BR" sz="2000" b="1" dirty="0">
                <a:latin typeface="Arial" panose="020B0604020202020204" pitchFamily="34" charset="0"/>
                <a:cs typeface="Arial" panose="020B0604020202020204" pitchFamily="34" charset="0"/>
              </a:rPr>
              <a:t>banco de dados </a:t>
            </a:r>
            <a:r>
              <a:rPr lang="pt-BR" sz="2000" dirty="0">
                <a:latin typeface="Arial" panose="020B0604020202020204" pitchFamily="34" charset="0"/>
                <a:cs typeface="Arial" panose="020B0604020202020204" pitchFamily="34" charset="0"/>
              </a:rPr>
              <a:t>é um conjunto de tabelas relacionadas. </a:t>
            </a:r>
          </a:p>
          <a:p>
            <a:pPr algn="just"/>
            <a:r>
              <a:rPr lang="pt-BR" sz="2000" dirty="0">
                <a:latin typeface="Arial" panose="020B0604020202020204" pitchFamily="34" charset="0"/>
                <a:cs typeface="Arial" panose="020B0604020202020204" pitchFamily="34" charset="0"/>
              </a:rPr>
              <a:t>Uma </a:t>
            </a:r>
            <a:r>
              <a:rPr lang="pt-BR" sz="2000" b="1" dirty="0">
                <a:latin typeface="Arial" panose="020B0604020202020204" pitchFamily="34" charset="0"/>
                <a:cs typeface="Arial" panose="020B0604020202020204" pitchFamily="34" charset="0"/>
              </a:rPr>
              <a:t>tabela</a:t>
            </a:r>
            <a:r>
              <a:rPr lang="pt-BR" sz="2000" dirty="0">
                <a:latin typeface="Arial" panose="020B0604020202020204" pitchFamily="34" charset="0"/>
                <a:cs typeface="Arial" panose="020B0604020202020204" pitchFamily="34" charset="0"/>
              </a:rPr>
              <a:t> é um conjunto de informações sobre uma </a:t>
            </a:r>
            <a:r>
              <a:rPr lang="pt-BR" sz="2000" b="1" dirty="0">
                <a:latin typeface="Arial" panose="020B0604020202020204" pitchFamily="34" charset="0"/>
                <a:cs typeface="Arial" panose="020B0604020202020204" pitchFamily="34" charset="0"/>
              </a:rPr>
              <a:t>entidade </a:t>
            </a:r>
            <a:r>
              <a:rPr lang="pt-BR" sz="2000" dirty="0">
                <a:latin typeface="Arial" panose="020B0604020202020204" pitchFamily="34" charset="0"/>
                <a:cs typeface="Arial" panose="020B0604020202020204" pitchFamily="34" charset="0"/>
              </a:rPr>
              <a:t>dispostas em forma de linhas e colunas. No caso, a </a:t>
            </a:r>
            <a:r>
              <a:rPr lang="pt-BR" sz="2000" b="1" dirty="0">
                <a:latin typeface="Arial" panose="020B0604020202020204" pitchFamily="34" charset="0"/>
                <a:cs typeface="Arial" panose="020B0604020202020204" pitchFamily="34" charset="0"/>
              </a:rPr>
              <a:t>entidade</a:t>
            </a:r>
            <a:r>
              <a:rPr lang="pt-BR" sz="2000" dirty="0">
                <a:latin typeface="Arial" panose="020B0604020202020204" pitchFamily="34" charset="0"/>
                <a:cs typeface="Arial" panose="020B0604020202020204" pitchFamily="34" charset="0"/>
              </a:rPr>
              <a:t> em questão é Produto. </a:t>
            </a:r>
          </a:p>
          <a:p>
            <a:pPr algn="just"/>
            <a:r>
              <a:rPr lang="pt-BR" sz="2000" dirty="0">
                <a:latin typeface="Arial" panose="020B0604020202020204" pitchFamily="34" charset="0"/>
                <a:cs typeface="Arial" panose="020B0604020202020204" pitchFamily="34" charset="0"/>
              </a:rPr>
              <a:t>Um </a:t>
            </a:r>
            <a:r>
              <a:rPr lang="pt-BR" sz="2000" b="1" dirty="0">
                <a:latin typeface="Arial" panose="020B0604020202020204" pitchFamily="34" charset="0"/>
                <a:cs typeface="Arial" panose="020B0604020202020204" pitchFamily="34" charset="0"/>
              </a:rPr>
              <a:t>registro</a:t>
            </a:r>
            <a:r>
              <a:rPr lang="pt-BR" sz="2000" dirty="0">
                <a:latin typeface="Arial" panose="020B0604020202020204" pitchFamily="34" charset="0"/>
                <a:cs typeface="Arial" panose="020B0604020202020204" pitchFamily="34" charset="0"/>
              </a:rPr>
              <a:t> é uma linha da tabela, ou seja, representa todas as informações de uma entidade em particular. </a:t>
            </a:r>
          </a:p>
          <a:p>
            <a:pPr algn="just"/>
            <a:r>
              <a:rPr lang="pt-BR" sz="2000" dirty="0">
                <a:latin typeface="Arial" panose="020B0604020202020204" pitchFamily="34" charset="0"/>
                <a:cs typeface="Arial" panose="020B0604020202020204" pitchFamily="34" charset="0"/>
              </a:rPr>
              <a:t>Um </a:t>
            </a:r>
            <a:r>
              <a:rPr lang="pt-BR" sz="2000" b="1" dirty="0">
                <a:latin typeface="Arial" panose="020B0604020202020204" pitchFamily="34" charset="0"/>
                <a:cs typeface="Arial" panose="020B0604020202020204" pitchFamily="34" charset="0"/>
              </a:rPr>
              <a:t>campo</a:t>
            </a:r>
            <a:r>
              <a:rPr lang="pt-BR" sz="2000" dirty="0">
                <a:latin typeface="Arial" panose="020B0604020202020204" pitchFamily="34" charset="0"/>
                <a:cs typeface="Arial" panose="020B0604020202020204" pitchFamily="34" charset="0"/>
              </a:rPr>
              <a:t> é uma coluna da tabela, ou seja, representa uma das </a:t>
            </a:r>
            <a:r>
              <a:rPr lang="pt-BR" sz="2000" dirty="0" err="1">
                <a:latin typeface="Arial" panose="020B0604020202020204" pitchFamily="34" charset="0"/>
                <a:cs typeface="Arial" panose="020B0604020202020204" pitchFamily="34" charset="0"/>
              </a:rPr>
              <a:t>informações</a:t>
            </a:r>
            <a:r>
              <a:rPr lang="pt-BR" sz="2000" dirty="0">
                <a:latin typeface="Arial" panose="020B0604020202020204" pitchFamily="34" charset="0"/>
                <a:cs typeface="Arial" panose="020B0604020202020204" pitchFamily="34" charset="0"/>
              </a:rPr>
              <a:t> do registro (</a:t>
            </a:r>
            <a:r>
              <a:rPr lang="pt-BR" sz="2000" dirty="0" err="1">
                <a:latin typeface="Arial" panose="020B0604020202020204" pitchFamily="34" charset="0"/>
                <a:cs typeface="Arial" panose="020B0604020202020204" pitchFamily="34" charset="0"/>
              </a:rPr>
              <a:t>funcionário</a:t>
            </a:r>
            <a:r>
              <a:rPr lang="pt-BR" sz="2000" dirty="0">
                <a:latin typeface="Arial" panose="020B0604020202020204" pitchFamily="34" charset="0"/>
                <a:cs typeface="Arial" panose="020B0604020202020204" pitchFamily="34" charset="0"/>
              </a:rPr>
              <a:t>). </a:t>
            </a:r>
          </a:p>
          <a:p>
            <a:pPr algn="just"/>
            <a:r>
              <a:rPr lang="pt-BR" sz="2000" dirty="0">
                <a:latin typeface="Arial" panose="020B0604020202020204" pitchFamily="34" charset="0"/>
                <a:cs typeface="Arial" panose="020B0604020202020204" pitchFamily="34" charset="0"/>
              </a:rPr>
              <a:t>A </a:t>
            </a:r>
            <a:r>
              <a:rPr lang="pt-BR" sz="2000" dirty="0" err="1">
                <a:latin typeface="Arial" panose="020B0604020202020204" pitchFamily="34" charset="0"/>
                <a:cs typeface="Arial" panose="020B0604020202020204" pitchFamily="34" charset="0"/>
              </a:rPr>
              <a:t>interseção</a:t>
            </a:r>
            <a:r>
              <a:rPr lang="pt-BR" sz="2000" dirty="0">
                <a:latin typeface="Arial" panose="020B0604020202020204" pitchFamily="34" charset="0"/>
                <a:cs typeface="Arial" panose="020B0604020202020204" pitchFamily="34" charset="0"/>
              </a:rPr>
              <a:t> entre a linha e a coluna de uma tabela é chamada </a:t>
            </a:r>
            <a:r>
              <a:rPr lang="pt-BR" sz="2000" b="1" dirty="0">
                <a:latin typeface="Arial" panose="020B0604020202020204" pitchFamily="34" charset="0"/>
                <a:cs typeface="Arial" panose="020B0604020202020204" pitchFamily="34" charset="0"/>
              </a:rPr>
              <a:t>atributo</a:t>
            </a:r>
            <a:r>
              <a:rPr lang="pt-BR" sz="2000" dirty="0">
                <a:latin typeface="Arial" panose="020B0604020202020204" pitchFamily="34" charset="0"/>
                <a:cs typeface="Arial" panose="020B0604020202020204" pitchFamily="34" charset="0"/>
              </a:rPr>
              <a:t> e representa o valor de um campo. "</a:t>
            </a:r>
            <a:r>
              <a:rPr lang="pt-BR" sz="2000" dirty="0" err="1">
                <a:latin typeface="Arial" panose="020B0604020202020204" pitchFamily="34" charset="0"/>
                <a:cs typeface="Arial" panose="020B0604020202020204" pitchFamily="34" charset="0"/>
              </a:rPr>
              <a:t>Antonio</a:t>
            </a:r>
            <a:r>
              <a:rPr lang="pt-BR" sz="2000" dirty="0">
                <a:latin typeface="Arial" panose="020B0604020202020204" pitchFamily="34" charset="0"/>
                <a:cs typeface="Arial" panose="020B0604020202020204" pitchFamily="34" charset="0"/>
              </a:rPr>
              <a:t> José da Silva", por exemplo, é um valor do campo "Nome" de um registro da tabela. </a:t>
            </a:r>
          </a:p>
          <a:p>
            <a:pPr algn="just"/>
            <a:endParaRPr lang="pt-BR" dirty="0"/>
          </a:p>
        </p:txBody>
      </p:sp>
      <p:sp>
        <p:nvSpPr>
          <p:cNvPr id="3" name="Espaço Reservado para Texto 2">
            <a:extLst>
              <a:ext uri="{FF2B5EF4-FFF2-40B4-BE49-F238E27FC236}">
                <a16:creationId xmlns:a16="http://schemas.microsoft.com/office/drawing/2014/main" id="{B6F8DEBD-7076-4327-AC9B-C8E56BEF6A1D}"/>
              </a:ext>
            </a:extLst>
          </p:cNvPr>
          <p:cNvSpPr>
            <a:spLocks noGrp="1"/>
          </p:cNvSpPr>
          <p:nvPr>
            <p:ph type="body" sz="quarter" idx="13"/>
          </p:nvPr>
        </p:nvSpPr>
        <p:spPr/>
        <p:txBody>
          <a:bodyPr>
            <a:normAutofit lnSpcReduction="10000"/>
          </a:bodyPr>
          <a:lstStyle/>
          <a:p>
            <a:r>
              <a:rPr lang="pt-BR" dirty="0">
                <a:latin typeface="Arial" panose="020B0604020202020204" pitchFamily="34" charset="0"/>
                <a:cs typeface="Arial" panose="020B0604020202020204" pitchFamily="34" charset="0"/>
              </a:rPr>
              <a:t>Conceitos básicos</a:t>
            </a:r>
            <a:endParaRPr lang="pt-BR" dirty="0"/>
          </a:p>
          <a:p>
            <a:endParaRPr lang="pt-BR" dirty="0"/>
          </a:p>
        </p:txBody>
      </p:sp>
    </p:spTree>
    <p:extLst>
      <p:ext uri="{BB962C8B-B14F-4D97-AF65-F5344CB8AC3E}">
        <p14:creationId xmlns:p14="http://schemas.microsoft.com/office/powerpoint/2010/main" val="486749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6E436A5D-5843-43A9-B1CD-9E8D3DC4ED48}"/>
              </a:ext>
            </a:extLst>
          </p:cNvPr>
          <p:cNvSpPr>
            <a:spLocks noGrp="1"/>
          </p:cNvSpPr>
          <p:nvPr>
            <p:ph idx="1"/>
          </p:nvPr>
        </p:nvSpPr>
        <p:spPr/>
        <p:txBody>
          <a:bodyPr>
            <a:normAutofit/>
          </a:bodyPr>
          <a:lstStyle/>
          <a:p>
            <a:r>
              <a:rPr lang="pt-BR" dirty="0"/>
              <a:t>Representação gráfica:</a:t>
            </a:r>
          </a:p>
          <a:p>
            <a:endParaRPr lang="pt-BR" dirty="0"/>
          </a:p>
        </p:txBody>
      </p:sp>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latin typeface="Arial" panose="020B0604020202020204" pitchFamily="34" charset="0"/>
                <a:cs typeface="Arial" panose="020B0604020202020204" pitchFamily="34" charset="0"/>
              </a:rPr>
              <a:t>Conceitos básicos</a:t>
            </a:r>
            <a:endParaRPr lang="pt-BR" dirty="0"/>
          </a:p>
        </p:txBody>
      </p:sp>
      <p:pic>
        <p:nvPicPr>
          <p:cNvPr id="4" name="Imagem 3">
            <a:extLst>
              <a:ext uri="{FF2B5EF4-FFF2-40B4-BE49-F238E27FC236}">
                <a16:creationId xmlns:a16="http://schemas.microsoft.com/office/drawing/2014/main" id="{3E2D2124-3AD2-4119-B6CA-A6485E7B8B0D}"/>
              </a:ext>
            </a:extLst>
          </p:cNvPr>
          <p:cNvPicPr>
            <a:picLocks noChangeAspect="1"/>
          </p:cNvPicPr>
          <p:nvPr/>
        </p:nvPicPr>
        <p:blipFill rotWithShape="1">
          <a:blip r:embed="rId2"/>
          <a:srcRect l="8447" t="47368" r="11651" b="22082"/>
          <a:stretch/>
        </p:blipFill>
        <p:spPr>
          <a:xfrm>
            <a:off x="727969" y="2432482"/>
            <a:ext cx="7306324" cy="1571347"/>
          </a:xfrm>
          <a:prstGeom prst="rect">
            <a:avLst/>
          </a:prstGeom>
        </p:spPr>
      </p:pic>
    </p:spTree>
    <p:extLst>
      <p:ext uri="{BB962C8B-B14F-4D97-AF65-F5344CB8AC3E}">
        <p14:creationId xmlns:p14="http://schemas.microsoft.com/office/powerpoint/2010/main" val="1640057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6E436A5D-5843-43A9-B1CD-9E8D3DC4ED48}"/>
              </a:ext>
            </a:extLst>
          </p:cNvPr>
          <p:cNvSpPr>
            <a:spLocks noGrp="1"/>
          </p:cNvSpPr>
          <p:nvPr>
            <p:ph idx="1"/>
          </p:nvPr>
        </p:nvSpPr>
        <p:spPr/>
        <p:txBody>
          <a:bodyPr>
            <a:normAutofit/>
          </a:bodyPr>
          <a:lstStyle/>
          <a:p>
            <a:r>
              <a:rPr lang="pt-BR" sz="2000" dirty="0">
                <a:latin typeface="Arial" panose="020B0604020202020204" pitchFamily="34" charset="0"/>
                <a:cs typeface="Arial" panose="020B0604020202020204" pitchFamily="34" charset="0"/>
              </a:rPr>
              <a:t>Há </a:t>
            </a:r>
            <a:r>
              <a:rPr lang="pt-BR" sz="2000" dirty="0" err="1">
                <a:latin typeface="Arial" panose="020B0604020202020204" pitchFamily="34" charset="0"/>
                <a:cs typeface="Arial" panose="020B0604020202020204" pitchFamily="34" charset="0"/>
              </a:rPr>
              <a:t>três</a:t>
            </a:r>
            <a:r>
              <a:rPr lang="pt-BR" sz="2000" dirty="0">
                <a:latin typeface="Arial" panose="020B0604020202020204" pitchFamily="34" charset="0"/>
                <a:cs typeface="Arial" panose="020B0604020202020204" pitchFamily="34" charset="0"/>
              </a:rPr>
              <a:t> tipos fundamentais de </a:t>
            </a:r>
            <a:r>
              <a:rPr lang="pt-BR" sz="2000" dirty="0" err="1">
                <a:latin typeface="Arial" panose="020B0604020202020204" pitchFamily="34" charset="0"/>
                <a:cs typeface="Arial" panose="020B0604020202020204" pitchFamily="34" charset="0"/>
              </a:rPr>
              <a:t>relações</a:t>
            </a:r>
            <a:r>
              <a:rPr lang="pt-BR" sz="2000" dirty="0">
                <a:latin typeface="Arial" panose="020B0604020202020204" pitchFamily="34" charset="0"/>
                <a:cs typeface="Arial" panose="020B0604020202020204" pitchFamily="34" charset="0"/>
              </a:rPr>
              <a:t> entre tabelas dentro de um modelo relacional: </a:t>
            </a:r>
          </a:p>
          <a:p>
            <a:endParaRPr lang="pt-BR" sz="2000" b="1" dirty="0">
              <a:latin typeface="Arial" panose="020B0604020202020204" pitchFamily="34" charset="0"/>
              <a:cs typeface="Arial" panose="020B0604020202020204" pitchFamily="34" charset="0"/>
            </a:endParaRPr>
          </a:p>
          <a:p>
            <a:r>
              <a:rPr lang="pt-BR" sz="2000" b="1" dirty="0" err="1">
                <a:latin typeface="Arial" panose="020B0604020202020204" pitchFamily="34" charset="0"/>
                <a:cs typeface="Arial" panose="020B0604020202020204" pitchFamily="34" charset="0"/>
              </a:rPr>
              <a:t>Relações</a:t>
            </a:r>
            <a:r>
              <a:rPr lang="pt-BR" sz="2000" b="1" dirty="0">
                <a:latin typeface="Arial" panose="020B0604020202020204" pitchFamily="34" charset="0"/>
                <a:cs typeface="Arial" panose="020B0604020202020204" pitchFamily="34" charset="0"/>
              </a:rPr>
              <a:t> 1 x 1: </a:t>
            </a:r>
            <a:r>
              <a:rPr lang="pt-BR" sz="2000" dirty="0">
                <a:latin typeface="Arial" panose="020B0604020202020204" pitchFamily="34" charset="0"/>
                <a:cs typeface="Arial" panose="020B0604020202020204" pitchFamily="34" charset="0"/>
              </a:rPr>
              <a:t>Requerem a </a:t>
            </a:r>
            <a:r>
              <a:rPr lang="pt-BR" sz="2000" dirty="0" err="1">
                <a:latin typeface="Arial" panose="020B0604020202020204" pitchFamily="34" charset="0"/>
                <a:cs typeface="Arial" panose="020B0604020202020204" pitchFamily="34" charset="0"/>
              </a:rPr>
              <a:t>existência</a:t>
            </a:r>
            <a:r>
              <a:rPr lang="pt-BR" sz="2000" dirty="0">
                <a:latin typeface="Arial" panose="020B0604020202020204" pitchFamily="34" charset="0"/>
                <a:cs typeface="Arial" panose="020B0604020202020204" pitchFamily="34" charset="0"/>
              </a:rPr>
              <a:t> de um e somente um registro em uma tabela relacionada, relacionado a um </a:t>
            </a:r>
            <a:r>
              <a:rPr lang="pt-BR" sz="2000" dirty="0" err="1">
                <a:latin typeface="Arial" panose="020B0604020202020204" pitchFamily="34" charset="0"/>
                <a:cs typeface="Arial" panose="020B0604020202020204" pitchFamily="34" charset="0"/>
              </a:rPr>
              <a:t>único</a:t>
            </a:r>
            <a:r>
              <a:rPr lang="pt-BR" sz="2000" dirty="0">
                <a:latin typeface="Arial" panose="020B0604020202020204" pitchFamily="34" charset="0"/>
                <a:cs typeface="Arial" panose="020B0604020202020204" pitchFamily="34" charset="0"/>
              </a:rPr>
              <a:t> registro da tabela </a:t>
            </a:r>
            <a:r>
              <a:rPr lang="pt-BR" sz="2000" dirty="0" err="1">
                <a:latin typeface="Arial" panose="020B0604020202020204" pitchFamily="34" charset="0"/>
                <a:cs typeface="Arial" panose="020B0604020202020204" pitchFamily="34" charset="0"/>
              </a:rPr>
              <a:t>primária</a:t>
            </a:r>
            <a:r>
              <a:rPr lang="pt-BR" sz="2000" dirty="0">
                <a:latin typeface="Arial" panose="020B0604020202020204" pitchFamily="34" charset="0"/>
                <a:cs typeface="Arial" panose="020B0604020202020204" pitchFamily="34" charset="0"/>
              </a:rPr>
              <a:t>. </a:t>
            </a:r>
            <a:endParaRPr lang="pt-BR" sz="2000" dirty="0">
              <a:highlight>
                <a:srgbClr val="FFFF00"/>
              </a:highlight>
              <a:latin typeface="Arial" panose="020B0604020202020204" pitchFamily="34" charset="0"/>
              <a:cs typeface="Arial" panose="020B0604020202020204" pitchFamily="34" charset="0"/>
            </a:endParaRPr>
          </a:p>
          <a:p>
            <a:endParaRPr lang="pt-BR" dirty="0"/>
          </a:p>
          <a:p>
            <a:endParaRPr lang="pt-BR" dirty="0"/>
          </a:p>
        </p:txBody>
      </p:sp>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t>Relações</a:t>
            </a:r>
          </a:p>
        </p:txBody>
      </p:sp>
      <p:pic>
        <p:nvPicPr>
          <p:cNvPr id="3076" name="Picture 4" descr="Como Drummond, vamos de mãos dadas">
            <a:extLst>
              <a:ext uri="{FF2B5EF4-FFF2-40B4-BE49-F238E27FC236}">
                <a16:creationId xmlns:a16="http://schemas.microsoft.com/office/drawing/2014/main" id="{4FE28BFE-1F2A-4387-9C96-0BB84FD8E7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7789" y="3429000"/>
            <a:ext cx="3222593" cy="2129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4636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EC6FA1D7-4061-4A39-AE13-6A9A013256C9}"/>
              </a:ext>
            </a:extLst>
          </p:cNvPr>
          <p:cNvSpPr>
            <a:spLocks noGrp="1"/>
          </p:cNvSpPr>
          <p:nvPr>
            <p:ph idx="1"/>
          </p:nvPr>
        </p:nvSpPr>
        <p:spPr/>
        <p:txBody>
          <a:bodyPr/>
          <a:lstStyle/>
          <a:p>
            <a:r>
              <a:rPr lang="pt-BR" dirty="0"/>
              <a:t>Representação </a:t>
            </a:r>
            <a:r>
              <a:rPr lang="pt-BR" dirty="0" err="1"/>
              <a:t>Grafica</a:t>
            </a:r>
            <a:r>
              <a:rPr lang="pt-BR" dirty="0"/>
              <a:t> 1:1</a:t>
            </a:r>
          </a:p>
          <a:p>
            <a:endParaRPr lang="pt-BR" dirty="0"/>
          </a:p>
          <a:p>
            <a:endParaRPr lang="pt-BR" dirty="0"/>
          </a:p>
        </p:txBody>
      </p:sp>
      <p:sp>
        <p:nvSpPr>
          <p:cNvPr id="3" name="Espaço Reservado para Texto 2">
            <a:extLst>
              <a:ext uri="{FF2B5EF4-FFF2-40B4-BE49-F238E27FC236}">
                <a16:creationId xmlns:a16="http://schemas.microsoft.com/office/drawing/2014/main" id="{57B6109F-B6C6-4A4F-8A67-51A33F0FFD4A}"/>
              </a:ext>
            </a:extLst>
          </p:cNvPr>
          <p:cNvSpPr>
            <a:spLocks noGrp="1"/>
          </p:cNvSpPr>
          <p:nvPr>
            <p:ph type="body" sz="quarter" idx="13"/>
          </p:nvPr>
        </p:nvSpPr>
        <p:spPr/>
        <p:txBody>
          <a:bodyPr>
            <a:normAutofit lnSpcReduction="10000"/>
          </a:bodyPr>
          <a:lstStyle/>
          <a:p>
            <a:r>
              <a:rPr lang="pt-BR" dirty="0"/>
              <a:t>Relações</a:t>
            </a:r>
          </a:p>
        </p:txBody>
      </p:sp>
      <p:pic>
        <p:nvPicPr>
          <p:cNvPr id="5" name="Imagem 4">
            <a:extLst>
              <a:ext uri="{FF2B5EF4-FFF2-40B4-BE49-F238E27FC236}">
                <a16:creationId xmlns:a16="http://schemas.microsoft.com/office/drawing/2014/main" id="{29153D19-6596-4F70-B174-409BA9D42231}"/>
              </a:ext>
            </a:extLst>
          </p:cNvPr>
          <p:cNvPicPr>
            <a:picLocks noChangeAspect="1"/>
          </p:cNvPicPr>
          <p:nvPr/>
        </p:nvPicPr>
        <p:blipFill rotWithShape="1">
          <a:blip r:embed="rId2"/>
          <a:srcRect l="12136" t="37357" r="16505" b="38651"/>
          <a:stretch/>
        </p:blipFill>
        <p:spPr>
          <a:xfrm>
            <a:off x="557628" y="2452456"/>
            <a:ext cx="8202966" cy="1551373"/>
          </a:xfrm>
          <a:prstGeom prst="rect">
            <a:avLst/>
          </a:prstGeom>
        </p:spPr>
      </p:pic>
    </p:spTree>
    <p:extLst>
      <p:ext uri="{BB962C8B-B14F-4D97-AF65-F5344CB8AC3E}">
        <p14:creationId xmlns:p14="http://schemas.microsoft.com/office/powerpoint/2010/main" val="3105164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6E436A5D-5843-43A9-B1CD-9E8D3DC4ED48}"/>
              </a:ext>
            </a:extLst>
          </p:cNvPr>
          <p:cNvSpPr>
            <a:spLocks noGrp="1"/>
          </p:cNvSpPr>
          <p:nvPr>
            <p:ph idx="1"/>
          </p:nvPr>
        </p:nvSpPr>
        <p:spPr>
          <a:xfrm>
            <a:off x="628650" y="1140823"/>
            <a:ext cx="7886700" cy="5036140"/>
          </a:xfrm>
        </p:spPr>
        <p:txBody>
          <a:bodyPr/>
          <a:lstStyle/>
          <a:p>
            <a:endParaRPr lang="pt-BR" sz="2000" b="1" dirty="0">
              <a:latin typeface="Arial" panose="020B0604020202020204" pitchFamily="34" charset="0"/>
              <a:cs typeface="Arial" panose="020B0604020202020204" pitchFamily="34" charset="0"/>
            </a:endParaRPr>
          </a:p>
          <a:p>
            <a:r>
              <a:rPr lang="pt-BR" sz="2000" b="1" dirty="0" err="1">
                <a:latin typeface="Arial" panose="020B0604020202020204" pitchFamily="34" charset="0"/>
                <a:cs typeface="Arial" panose="020B0604020202020204" pitchFamily="34" charset="0"/>
              </a:rPr>
              <a:t>Relações</a:t>
            </a:r>
            <a:r>
              <a:rPr lang="pt-BR" sz="2000" b="1" dirty="0">
                <a:latin typeface="Arial" panose="020B0604020202020204" pitchFamily="34" charset="0"/>
                <a:cs typeface="Arial" panose="020B0604020202020204" pitchFamily="34" charset="0"/>
              </a:rPr>
              <a:t> 1 x N: </a:t>
            </a:r>
            <a:r>
              <a:rPr lang="pt-BR" sz="2000" dirty="0">
                <a:latin typeface="Arial" panose="020B0604020202020204" pitchFamily="34" charset="0"/>
                <a:cs typeface="Arial" panose="020B0604020202020204" pitchFamily="34" charset="0"/>
              </a:rPr>
              <a:t>Permitem a </a:t>
            </a:r>
            <a:r>
              <a:rPr lang="pt-BR" sz="2000" dirty="0" err="1">
                <a:latin typeface="Arial" panose="020B0604020202020204" pitchFamily="34" charset="0"/>
                <a:cs typeface="Arial" panose="020B0604020202020204" pitchFamily="34" charset="0"/>
              </a:rPr>
              <a:t>existência</a:t>
            </a:r>
            <a:r>
              <a:rPr lang="pt-BR" sz="2000" dirty="0">
                <a:latin typeface="Arial" panose="020B0604020202020204" pitchFamily="34" charset="0"/>
                <a:cs typeface="Arial" panose="020B0604020202020204" pitchFamily="34" charset="0"/>
              </a:rPr>
              <a:t> de mais de um registro na tabela relacionada, relacionados a um </a:t>
            </a:r>
            <a:r>
              <a:rPr lang="pt-BR" sz="2000" dirty="0" err="1">
                <a:latin typeface="Arial" panose="020B0604020202020204" pitchFamily="34" charset="0"/>
                <a:cs typeface="Arial" panose="020B0604020202020204" pitchFamily="34" charset="0"/>
              </a:rPr>
              <a:t>único</a:t>
            </a:r>
            <a:r>
              <a:rPr lang="pt-BR" sz="2000" dirty="0">
                <a:latin typeface="Arial" panose="020B0604020202020204" pitchFamily="34" charset="0"/>
                <a:cs typeface="Arial" panose="020B0604020202020204" pitchFamily="34" charset="0"/>
              </a:rPr>
              <a:t> registro da tabela </a:t>
            </a:r>
            <a:r>
              <a:rPr lang="pt-BR" sz="2000" dirty="0" err="1">
                <a:latin typeface="Arial" panose="020B0604020202020204" pitchFamily="34" charset="0"/>
                <a:cs typeface="Arial" panose="020B0604020202020204" pitchFamily="34" charset="0"/>
              </a:rPr>
              <a:t>primária</a:t>
            </a:r>
            <a:r>
              <a:rPr lang="pt-BR" sz="2000" dirty="0">
                <a:latin typeface="Arial" panose="020B0604020202020204" pitchFamily="34" charset="0"/>
                <a:cs typeface="Arial" panose="020B0604020202020204" pitchFamily="34" charset="0"/>
              </a:rPr>
              <a:t>. Um exemplo é a </a:t>
            </a:r>
            <a:r>
              <a:rPr lang="pt-BR" sz="2000" dirty="0" err="1">
                <a:latin typeface="Arial" panose="020B0604020202020204" pitchFamily="34" charset="0"/>
                <a:cs typeface="Arial" panose="020B0604020202020204" pitchFamily="34" charset="0"/>
              </a:rPr>
              <a:t>relação</a:t>
            </a:r>
            <a:r>
              <a:rPr lang="pt-BR" sz="2000" dirty="0">
                <a:latin typeface="Arial" panose="020B0604020202020204" pitchFamily="34" charset="0"/>
                <a:cs typeface="Arial" panose="020B0604020202020204" pitchFamily="34" charset="0"/>
              </a:rPr>
              <a:t> entre a tabela "Cargos" e a tabela "</a:t>
            </a:r>
            <a:r>
              <a:rPr lang="pt-BR" sz="2000" dirty="0" err="1">
                <a:latin typeface="Arial" panose="020B0604020202020204" pitchFamily="34" charset="0"/>
                <a:cs typeface="Arial" panose="020B0604020202020204" pitchFamily="34" charset="0"/>
              </a:rPr>
              <a:t>Funcionários</a:t>
            </a:r>
            <a:r>
              <a:rPr lang="pt-BR" sz="2000" dirty="0">
                <a:latin typeface="Arial" panose="020B0604020202020204" pitchFamily="34" charset="0"/>
                <a:cs typeface="Arial" panose="020B0604020202020204" pitchFamily="34" charset="0"/>
              </a:rPr>
              <a:t>": UM cargo pode ser ocupado por VÁRIAS pessoas. </a:t>
            </a:r>
          </a:p>
          <a:p>
            <a:endParaRPr lang="pt-BR" dirty="0"/>
          </a:p>
        </p:txBody>
      </p:sp>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t>Relações</a:t>
            </a:r>
          </a:p>
        </p:txBody>
      </p:sp>
      <p:pic>
        <p:nvPicPr>
          <p:cNvPr id="4100" name="Picture 4" descr="Paizão do funk carioca, Mr. Catra morre aos 49 anos - Jornal O Globo">
            <a:extLst>
              <a:ext uri="{FF2B5EF4-FFF2-40B4-BE49-F238E27FC236}">
                <a16:creationId xmlns:a16="http://schemas.microsoft.com/office/drawing/2014/main" id="{F441B492-E663-477E-AE88-A8B2E3667A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5166" y="2955274"/>
            <a:ext cx="4733668" cy="284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7936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EC6FA1D7-4061-4A39-AE13-6A9A013256C9}"/>
              </a:ext>
            </a:extLst>
          </p:cNvPr>
          <p:cNvSpPr>
            <a:spLocks noGrp="1"/>
          </p:cNvSpPr>
          <p:nvPr>
            <p:ph idx="1"/>
          </p:nvPr>
        </p:nvSpPr>
        <p:spPr/>
        <p:txBody>
          <a:bodyPr/>
          <a:lstStyle/>
          <a:p>
            <a:r>
              <a:rPr lang="pt-BR" dirty="0"/>
              <a:t>Representação </a:t>
            </a:r>
            <a:r>
              <a:rPr lang="pt-BR" dirty="0" err="1"/>
              <a:t>Grafica</a:t>
            </a:r>
            <a:r>
              <a:rPr lang="pt-BR" dirty="0"/>
              <a:t> N:1</a:t>
            </a:r>
          </a:p>
          <a:p>
            <a:endParaRPr lang="pt-BR" dirty="0"/>
          </a:p>
          <a:p>
            <a:endParaRPr lang="pt-BR" dirty="0"/>
          </a:p>
        </p:txBody>
      </p:sp>
      <p:sp>
        <p:nvSpPr>
          <p:cNvPr id="3" name="Espaço Reservado para Texto 2">
            <a:extLst>
              <a:ext uri="{FF2B5EF4-FFF2-40B4-BE49-F238E27FC236}">
                <a16:creationId xmlns:a16="http://schemas.microsoft.com/office/drawing/2014/main" id="{57B6109F-B6C6-4A4F-8A67-51A33F0FFD4A}"/>
              </a:ext>
            </a:extLst>
          </p:cNvPr>
          <p:cNvSpPr>
            <a:spLocks noGrp="1"/>
          </p:cNvSpPr>
          <p:nvPr>
            <p:ph type="body" sz="quarter" idx="13"/>
          </p:nvPr>
        </p:nvSpPr>
        <p:spPr/>
        <p:txBody>
          <a:bodyPr>
            <a:normAutofit lnSpcReduction="10000"/>
          </a:bodyPr>
          <a:lstStyle/>
          <a:p>
            <a:r>
              <a:rPr lang="pt-BR" dirty="0"/>
              <a:t>Relações</a:t>
            </a:r>
          </a:p>
        </p:txBody>
      </p:sp>
      <p:pic>
        <p:nvPicPr>
          <p:cNvPr id="4" name="Imagem 3">
            <a:extLst>
              <a:ext uri="{FF2B5EF4-FFF2-40B4-BE49-F238E27FC236}">
                <a16:creationId xmlns:a16="http://schemas.microsoft.com/office/drawing/2014/main" id="{B67F1A86-225F-4314-9464-23867F2AB723}"/>
              </a:ext>
            </a:extLst>
          </p:cNvPr>
          <p:cNvPicPr>
            <a:picLocks noChangeAspect="1"/>
          </p:cNvPicPr>
          <p:nvPr/>
        </p:nvPicPr>
        <p:blipFill rotWithShape="1">
          <a:blip r:embed="rId2"/>
          <a:srcRect l="8349" t="38565" r="17476" b="29849"/>
          <a:stretch/>
        </p:blipFill>
        <p:spPr>
          <a:xfrm>
            <a:off x="439468" y="2325948"/>
            <a:ext cx="8265062" cy="1979721"/>
          </a:xfrm>
          <a:prstGeom prst="rect">
            <a:avLst/>
          </a:prstGeom>
        </p:spPr>
      </p:pic>
    </p:spTree>
    <p:extLst>
      <p:ext uri="{BB962C8B-B14F-4D97-AF65-F5344CB8AC3E}">
        <p14:creationId xmlns:p14="http://schemas.microsoft.com/office/powerpoint/2010/main" val="3479413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6E436A5D-5843-43A9-B1CD-9E8D3DC4ED48}"/>
              </a:ext>
            </a:extLst>
          </p:cNvPr>
          <p:cNvSpPr>
            <a:spLocks noGrp="1"/>
          </p:cNvSpPr>
          <p:nvPr>
            <p:ph idx="1"/>
          </p:nvPr>
        </p:nvSpPr>
        <p:spPr/>
        <p:txBody>
          <a:bodyPr>
            <a:normAutofit/>
          </a:bodyPr>
          <a:lstStyle/>
          <a:p>
            <a:r>
              <a:rPr lang="pt-BR" sz="1800" b="1" dirty="0" err="1">
                <a:latin typeface="Arial" panose="020B0604020202020204" pitchFamily="34" charset="0"/>
                <a:cs typeface="Arial" panose="020B0604020202020204" pitchFamily="34" charset="0"/>
              </a:rPr>
              <a:t>Relações</a:t>
            </a:r>
            <a:r>
              <a:rPr lang="pt-BR" sz="1800" b="1" dirty="0">
                <a:latin typeface="Arial" panose="020B0604020202020204" pitchFamily="34" charset="0"/>
                <a:cs typeface="Arial" panose="020B0604020202020204" pitchFamily="34" charset="0"/>
              </a:rPr>
              <a:t> N x N: </a:t>
            </a:r>
            <a:r>
              <a:rPr lang="pt-BR" sz="1800" dirty="0" err="1">
                <a:latin typeface="Arial" panose="020B0604020202020204" pitchFamily="34" charset="0"/>
                <a:cs typeface="Arial" panose="020B0604020202020204" pitchFamily="34" charset="0"/>
              </a:rPr>
              <a:t>Não</a:t>
            </a:r>
            <a:r>
              <a:rPr lang="pt-BR" sz="1800" dirty="0">
                <a:latin typeface="Arial" panose="020B0604020202020204" pitchFamily="34" charset="0"/>
                <a:cs typeface="Arial" panose="020B0604020202020204" pitchFamily="34" charset="0"/>
              </a:rPr>
              <a:t> </a:t>
            </a:r>
            <a:r>
              <a:rPr lang="pt-BR" sz="1800" dirty="0" err="1">
                <a:latin typeface="Arial" panose="020B0604020202020204" pitchFamily="34" charset="0"/>
                <a:cs typeface="Arial" panose="020B0604020202020204" pitchFamily="34" charset="0"/>
              </a:rPr>
              <a:t>são</a:t>
            </a:r>
            <a:r>
              <a:rPr lang="pt-BR" sz="1800" dirty="0">
                <a:latin typeface="Arial" panose="020B0604020202020204" pitchFamily="34" charset="0"/>
                <a:cs typeface="Arial" panose="020B0604020202020204" pitchFamily="34" charset="0"/>
              </a:rPr>
              <a:t> </a:t>
            </a:r>
            <a:r>
              <a:rPr lang="pt-BR" sz="1800" dirty="0" err="1">
                <a:latin typeface="Arial" panose="020B0604020202020204" pitchFamily="34" charset="0"/>
                <a:cs typeface="Arial" panose="020B0604020202020204" pitchFamily="34" charset="0"/>
              </a:rPr>
              <a:t>relações</a:t>
            </a:r>
            <a:r>
              <a:rPr lang="pt-BR" sz="1800" dirty="0">
                <a:latin typeface="Arial" panose="020B0604020202020204" pitchFamily="34" charset="0"/>
                <a:cs typeface="Arial" panose="020B0604020202020204" pitchFamily="34" charset="0"/>
              </a:rPr>
              <a:t> diretas entre duas tabelas, </a:t>
            </a:r>
            <a:r>
              <a:rPr lang="pt-BR" sz="1800" dirty="0" err="1">
                <a:latin typeface="Arial" panose="020B0604020202020204" pitchFamily="34" charset="0"/>
                <a:cs typeface="Arial" panose="020B0604020202020204" pitchFamily="34" charset="0"/>
              </a:rPr>
              <a:t>ja</a:t>
            </a:r>
            <a:r>
              <a:rPr lang="pt-BR" sz="1800" dirty="0">
                <a:latin typeface="Arial" panose="020B0604020202020204" pitchFamily="34" charset="0"/>
                <a:cs typeface="Arial" panose="020B0604020202020204" pitchFamily="34" charset="0"/>
              </a:rPr>
              <a:t>́ que requerem uma tabela </a:t>
            </a:r>
            <a:r>
              <a:rPr lang="pt-BR" sz="1800" dirty="0" err="1">
                <a:latin typeface="Arial" panose="020B0604020202020204" pitchFamily="34" charset="0"/>
                <a:cs typeface="Arial" panose="020B0604020202020204" pitchFamily="34" charset="0"/>
              </a:rPr>
              <a:t>intermediária</a:t>
            </a:r>
            <a:r>
              <a:rPr lang="pt-BR" sz="1800" dirty="0">
                <a:latin typeface="Arial" panose="020B0604020202020204" pitchFamily="34" charset="0"/>
                <a:cs typeface="Arial" panose="020B0604020202020204" pitchFamily="34" charset="0"/>
              </a:rPr>
              <a:t>, conhecida como tabela de </a:t>
            </a:r>
            <a:r>
              <a:rPr lang="pt-BR" sz="1800" dirty="0" err="1">
                <a:latin typeface="Arial" panose="020B0604020202020204" pitchFamily="34" charset="0"/>
                <a:cs typeface="Arial" panose="020B0604020202020204" pitchFamily="34" charset="0"/>
              </a:rPr>
              <a:t>relação</a:t>
            </a:r>
            <a:r>
              <a:rPr lang="pt-BR" sz="1800" dirty="0">
                <a:latin typeface="Arial" panose="020B0604020202020204" pitchFamily="34" charset="0"/>
                <a:cs typeface="Arial" panose="020B0604020202020204" pitchFamily="34" charset="0"/>
              </a:rPr>
              <a:t>, para manter os valores relacionados de ambas as tabelas. Para exemplificar, vamos pensar em outra </a:t>
            </a:r>
            <a:r>
              <a:rPr lang="pt-BR" sz="1800" dirty="0" err="1">
                <a:latin typeface="Arial" panose="020B0604020202020204" pitchFamily="34" charset="0"/>
                <a:cs typeface="Arial" panose="020B0604020202020204" pitchFamily="34" charset="0"/>
              </a:rPr>
              <a:t>situação</a:t>
            </a:r>
            <a:r>
              <a:rPr lang="pt-BR" sz="1800" dirty="0">
                <a:latin typeface="Arial" panose="020B0604020202020204" pitchFamily="34" charset="0"/>
                <a:cs typeface="Arial" panose="020B0604020202020204" pitchFamily="34" charset="0"/>
              </a:rPr>
              <a:t>, o relacionamento entre PRODUTOS E EMPRESAS FORNECEDORAS de uma determinada loja: um produto pode ter </a:t>
            </a:r>
            <a:r>
              <a:rPr lang="pt-BR" sz="1800" dirty="0" err="1">
                <a:latin typeface="Arial" panose="020B0604020202020204" pitchFamily="34" charset="0"/>
                <a:cs typeface="Arial" panose="020B0604020202020204" pitchFamily="34" charset="0"/>
              </a:rPr>
              <a:t>vários</a:t>
            </a:r>
            <a:r>
              <a:rPr lang="pt-BR" sz="1800" dirty="0">
                <a:latin typeface="Arial" panose="020B0604020202020204" pitchFamily="34" charset="0"/>
                <a:cs typeface="Arial" panose="020B0604020202020204" pitchFamily="34" charset="0"/>
              </a:rPr>
              <a:t> fornecedores, assim como, um fornecedor pode fornecer </a:t>
            </a:r>
            <a:r>
              <a:rPr lang="pt-BR" sz="1800" dirty="0" err="1">
                <a:latin typeface="Arial" panose="020B0604020202020204" pitchFamily="34" charset="0"/>
                <a:cs typeface="Arial" panose="020B0604020202020204" pitchFamily="34" charset="0"/>
              </a:rPr>
              <a:t>vários</a:t>
            </a:r>
            <a:r>
              <a:rPr lang="pt-BR" sz="1800" dirty="0">
                <a:latin typeface="Arial" panose="020B0604020202020204" pitchFamily="34" charset="0"/>
                <a:cs typeface="Arial" panose="020B0604020202020204" pitchFamily="34" charset="0"/>
              </a:rPr>
              <a:t> produtos, ou seja, VÁRIOS produtos podem ser fornecidos por VÁRIOS fornecedores. Para resolver o problema, cria-se uma tabela </a:t>
            </a:r>
            <a:r>
              <a:rPr lang="pt-BR" sz="1800" dirty="0" err="1">
                <a:latin typeface="Arial" panose="020B0604020202020204" pitchFamily="34" charset="0"/>
                <a:cs typeface="Arial" panose="020B0604020202020204" pitchFamily="34" charset="0"/>
              </a:rPr>
              <a:t>intermediária</a:t>
            </a:r>
            <a:r>
              <a:rPr lang="pt-BR" sz="1800" dirty="0">
                <a:latin typeface="Arial" panose="020B0604020202020204" pitchFamily="34" charset="0"/>
                <a:cs typeface="Arial" panose="020B0604020202020204" pitchFamily="34" charset="0"/>
              </a:rPr>
              <a:t> contendo o </a:t>
            </a:r>
            <a:r>
              <a:rPr lang="pt-BR" sz="1800" dirty="0" err="1">
                <a:latin typeface="Arial" panose="020B0604020202020204" pitchFamily="34" charset="0"/>
                <a:cs typeface="Arial" panose="020B0604020202020204" pitchFamily="34" charset="0"/>
              </a:rPr>
              <a:t>código</a:t>
            </a:r>
            <a:r>
              <a:rPr lang="pt-BR" sz="1800" dirty="0">
                <a:latin typeface="Arial" panose="020B0604020202020204" pitchFamily="34" charset="0"/>
                <a:cs typeface="Arial" panose="020B0604020202020204" pitchFamily="34" charset="0"/>
              </a:rPr>
              <a:t> do produto e o </a:t>
            </a:r>
            <a:r>
              <a:rPr lang="pt-BR" sz="1800" dirty="0" err="1">
                <a:latin typeface="Arial" panose="020B0604020202020204" pitchFamily="34" charset="0"/>
                <a:cs typeface="Arial" panose="020B0604020202020204" pitchFamily="34" charset="0"/>
              </a:rPr>
              <a:t>código</a:t>
            </a:r>
            <a:r>
              <a:rPr lang="pt-BR" sz="1800" dirty="0">
                <a:latin typeface="Arial" panose="020B0604020202020204" pitchFamily="34" charset="0"/>
                <a:cs typeface="Arial" panose="020B0604020202020204" pitchFamily="34" charset="0"/>
              </a:rPr>
              <a:t> da empresa fornecedora. Essa tabela sim, teria uma </a:t>
            </a:r>
            <a:r>
              <a:rPr lang="pt-BR" sz="1800" dirty="0" err="1">
                <a:latin typeface="Arial" panose="020B0604020202020204" pitchFamily="34" charset="0"/>
                <a:cs typeface="Arial" panose="020B0604020202020204" pitchFamily="34" charset="0"/>
              </a:rPr>
              <a:t>relação</a:t>
            </a:r>
            <a:r>
              <a:rPr lang="pt-BR" sz="1800" dirty="0">
                <a:latin typeface="Arial" panose="020B0604020202020204" pitchFamily="34" charset="0"/>
                <a:cs typeface="Arial" panose="020B0604020202020204" pitchFamily="34" charset="0"/>
              </a:rPr>
              <a:t> de 1 x N com as tabelas de produtos e empresas fornecedoras. </a:t>
            </a:r>
          </a:p>
          <a:p>
            <a:endParaRPr lang="pt-BR" dirty="0"/>
          </a:p>
        </p:txBody>
      </p:sp>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t>Relações</a:t>
            </a:r>
          </a:p>
        </p:txBody>
      </p:sp>
      <p:pic>
        <p:nvPicPr>
          <p:cNvPr id="5122" name="Picture 2" descr="Baladas em Bogotá - 2020 | Dicas incríveis!">
            <a:extLst>
              <a:ext uri="{FF2B5EF4-FFF2-40B4-BE49-F238E27FC236}">
                <a16:creationId xmlns:a16="http://schemas.microsoft.com/office/drawing/2014/main" id="{1A0491B1-72F1-489D-8C4A-6EA932B02B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7474" y="3975884"/>
            <a:ext cx="4185193" cy="2700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025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EC6FA1D7-4061-4A39-AE13-6A9A013256C9}"/>
              </a:ext>
            </a:extLst>
          </p:cNvPr>
          <p:cNvSpPr>
            <a:spLocks noGrp="1"/>
          </p:cNvSpPr>
          <p:nvPr>
            <p:ph idx="1"/>
          </p:nvPr>
        </p:nvSpPr>
        <p:spPr/>
        <p:txBody>
          <a:bodyPr/>
          <a:lstStyle/>
          <a:p>
            <a:r>
              <a:rPr lang="pt-BR" dirty="0"/>
              <a:t>Representação </a:t>
            </a:r>
            <a:r>
              <a:rPr lang="pt-BR" dirty="0" err="1"/>
              <a:t>Grafica</a:t>
            </a:r>
            <a:r>
              <a:rPr lang="pt-BR" dirty="0"/>
              <a:t> N:N</a:t>
            </a:r>
          </a:p>
          <a:p>
            <a:endParaRPr lang="pt-BR" dirty="0"/>
          </a:p>
          <a:p>
            <a:endParaRPr lang="pt-BR" dirty="0"/>
          </a:p>
        </p:txBody>
      </p:sp>
      <p:sp>
        <p:nvSpPr>
          <p:cNvPr id="3" name="Espaço Reservado para Texto 2">
            <a:extLst>
              <a:ext uri="{FF2B5EF4-FFF2-40B4-BE49-F238E27FC236}">
                <a16:creationId xmlns:a16="http://schemas.microsoft.com/office/drawing/2014/main" id="{57B6109F-B6C6-4A4F-8A67-51A33F0FFD4A}"/>
              </a:ext>
            </a:extLst>
          </p:cNvPr>
          <p:cNvSpPr>
            <a:spLocks noGrp="1"/>
          </p:cNvSpPr>
          <p:nvPr>
            <p:ph type="body" sz="quarter" idx="13"/>
          </p:nvPr>
        </p:nvSpPr>
        <p:spPr>
          <a:xfrm>
            <a:off x="628649" y="365126"/>
            <a:ext cx="7886701" cy="566691"/>
          </a:xfrm>
        </p:spPr>
        <p:txBody>
          <a:bodyPr>
            <a:normAutofit lnSpcReduction="10000"/>
          </a:bodyPr>
          <a:lstStyle/>
          <a:p>
            <a:r>
              <a:rPr lang="pt-BR" dirty="0"/>
              <a:t>Relações</a:t>
            </a:r>
          </a:p>
        </p:txBody>
      </p:sp>
      <p:pic>
        <p:nvPicPr>
          <p:cNvPr id="4" name="Imagem 3">
            <a:extLst>
              <a:ext uri="{FF2B5EF4-FFF2-40B4-BE49-F238E27FC236}">
                <a16:creationId xmlns:a16="http://schemas.microsoft.com/office/drawing/2014/main" id="{5C4015E7-3329-4A50-9058-A4305F0D5CAE}"/>
              </a:ext>
            </a:extLst>
          </p:cNvPr>
          <p:cNvPicPr>
            <a:picLocks noChangeAspect="1"/>
          </p:cNvPicPr>
          <p:nvPr/>
        </p:nvPicPr>
        <p:blipFill rotWithShape="1">
          <a:blip r:embed="rId2"/>
          <a:srcRect l="8349" t="41499" r="16408" b="34164"/>
          <a:stretch/>
        </p:blipFill>
        <p:spPr>
          <a:xfrm>
            <a:off x="763480" y="2991775"/>
            <a:ext cx="6880194" cy="1251752"/>
          </a:xfrm>
          <a:prstGeom prst="rect">
            <a:avLst/>
          </a:prstGeom>
        </p:spPr>
      </p:pic>
    </p:spTree>
    <p:extLst>
      <p:ext uri="{BB962C8B-B14F-4D97-AF65-F5344CB8AC3E}">
        <p14:creationId xmlns:p14="http://schemas.microsoft.com/office/powerpoint/2010/main" val="1337581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EC6FA1D7-4061-4A39-AE13-6A9A013256C9}"/>
              </a:ext>
            </a:extLst>
          </p:cNvPr>
          <p:cNvSpPr>
            <a:spLocks noGrp="1"/>
          </p:cNvSpPr>
          <p:nvPr>
            <p:ph idx="1"/>
          </p:nvPr>
        </p:nvSpPr>
        <p:spPr/>
        <p:txBody>
          <a:bodyPr/>
          <a:lstStyle/>
          <a:p>
            <a:r>
              <a:rPr lang="pt-BR" dirty="0"/>
              <a:t>Representação </a:t>
            </a:r>
            <a:r>
              <a:rPr lang="pt-BR" dirty="0" err="1"/>
              <a:t>Grafica</a:t>
            </a:r>
            <a:r>
              <a:rPr lang="pt-BR" dirty="0"/>
              <a:t> N:N com atributo</a:t>
            </a:r>
          </a:p>
          <a:p>
            <a:endParaRPr lang="pt-BR" dirty="0"/>
          </a:p>
          <a:p>
            <a:endParaRPr lang="pt-BR" dirty="0"/>
          </a:p>
        </p:txBody>
      </p:sp>
      <p:sp>
        <p:nvSpPr>
          <p:cNvPr id="3" name="Espaço Reservado para Texto 2">
            <a:extLst>
              <a:ext uri="{FF2B5EF4-FFF2-40B4-BE49-F238E27FC236}">
                <a16:creationId xmlns:a16="http://schemas.microsoft.com/office/drawing/2014/main" id="{57B6109F-B6C6-4A4F-8A67-51A33F0FFD4A}"/>
              </a:ext>
            </a:extLst>
          </p:cNvPr>
          <p:cNvSpPr>
            <a:spLocks noGrp="1"/>
          </p:cNvSpPr>
          <p:nvPr>
            <p:ph type="body" sz="quarter" idx="13"/>
          </p:nvPr>
        </p:nvSpPr>
        <p:spPr>
          <a:xfrm>
            <a:off x="628649" y="365126"/>
            <a:ext cx="7886701" cy="566691"/>
          </a:xfrm>
        </p:spPr>
        <p:txBody>
          <a:bodyPr>
            <a:normAutofit lnSpcReduction="10000"/>
          </a:bodyPr>
          <a:lstStyle/>
          <a:p>
            <a:r>
              <a:rPr lang="pt-BR" dirty="0"/>
              <a:t>Relações</a:t>
            </a:r>
          </a:p>
        </p:txBody>
      </p:sp>
      <p:pic>
        <p:nvPicPr>
          <p:cNvPr id="5" name="Imagem 4">
            <a:extLst>
              <a:ext uri="{FF2B5EF4-FFF2-40B4-BE49-F238E27FC236}">
                <a16:creationId xmlns:a16="http://schemas.microsoft.com/office/drawing/2014/main" id="{BB359223-03A9-4CFD-9498-DECF66D6B18B}"/>
              </a:ext>
            </a:extLst>
          </p:cNvPr>
          <p:cNvPicPr>
            <a:picLocks noChangeAspect="1"/>
          </p:cNvPicPr>
          <p:nvPr/>
        </p:nvPicPr>
        <p:blipFill>
          <a:blip r:embed="rId2"/>
          <a:stretch>
            <a:fillRect/>
          </a:stretch>
        </p:blipFill>
        <p:spPr>
          <a:xfrm>
            <a:off x="628649" y="2750559"/>
            <a:ext cx="7785717" cy="1816667"/>
          </a:xfrm>
          <a:prstGeom prst="rect">
            <a:avLst/>
          </a:prstGeom>
        </p:spPr>
      </p:pic>
    </p:spTree>
    <p:extLst>
      <p:ext uri="{BB962C8B-B14F-4D97-AF65-F5344CB8AC3E}">
        <p14:creationId xmlns:p14="http://schemas.microsoft.com/office/powerpoint/2010/main" val="1174995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6E436A5D-5843-43A9-B1CD-9E8D3DC4ED48}"/>
              </a:ext>
            </a:extLst>
          </p:cNvPr>
          <p:cNvSpPr>
            <a:spLocks noGrp="1"/>
          </p:cNvSpPr>
          <p:nvPr>
            <p:ph idx="1"/>
          </p:nvPr>
        </p:nvSpPr>
        <p:spPr/>
        <p:txBody>
          <a:bodyPr>
            <a:normAutofit/>
          </a:bodyPr>
          <a:lstStyle/>
          <a:p>
            <a:r>
              <a:rPr lang="pt-BR" sz="2000" dirty="0">
                <a:latin typeface="Arial" panose="020B0604020202020204" pitchFamily="34" charset="0"/>
                <a:cs typeface="Arial" panose="020B0604020202020204" pitchFamily="34" charset="0"/>
              </a:rPr>
              <a:t>Você sabe quando usar um relacionamento do tipo 1:N ou N:N? Optar pelo tipo incorreto pode impactar diretamente no negócio. Portanto, a decisão por qual usar deve ser tomada com cuidado na fase de modelagem.</a:t>
            </a:r>
          </a:p>
          <a:p>
            <a:endParaRPr lang="pt-BR" sz="2000" dirty="0"/>
          </a:p>
          <a:p>
            <a:r>
              <a:rPr lang="pt-BR" sz="2000" dirty="0">
                <a:latin typeface="Arial" panose="020B0604020202020204" pitchFamily="34" charset="0"/>
                <a:cs typeface="Arial" panose="020B0604020202020204" pitchFamily="34" charset="0"/>
              </a:rPr>
              <a:t>Relacionamentos do tipo 1:N (um para muitos) ocorrem quando uma ocorrência de uma entidade pode se relacionar com várias ocorrências de outra entidade. No contexto do banco de dados isso significa que para um registro em uma tabela podem existir vários registros relacionados em outra.</a:t>
            </a:r>
          </a:p>
          <a:p>
            <a:endParaRPr lang="pt-BR" dirty="0"/>
          </a:p>
        </p:txBody>
      </p:sp>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t>Relações – Quando Usar?</a:t>
            </a:r>
          </a:p>
        </p:txBody>
      </p:sp>
    </p:spTree>
    <p:extLst>
      <p:ext uri="{BB962C8B-B14F-4D97-AF65-F5344CB8AC3E}">
        <p14:creationId xmlns:p14="http://schemas.microsoft.com/office/powerpoint/2010/main" val="2691598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t>Relações – 1:N</a:t>
            </a:r>
          </a:p>
        </p:txBody>
      </p:sp>
      <p:pic>
        <p:nvPicPr>
          <p:cNvPr id="4" name="Espaço Reservado para Conteúdo 3" descr="Tela de celular com texto preto sobre fundo branco&#10;&#10;Descrição gerada automaticamente">
            <a:extLst>
              <a:ext uri="{FF2B5EF4-FFF2-40B4-BE49-F238E27FC236}">
                <a16:creationId xmlns:a16="http://schemas.microsoft.com/office/drawing/2014/main" id="{C47BC757-8111-4042-B031-3F336CF63E4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983" t="5923" r="3749" b="4666"/>
          <a:stretch/>
        </p:blipFill>
        <p:spPr>
          <a:xfrm>
            <a:off x="1111928" y="1463029"/>
            <a:ext cx="6920144" cy="2611821"/>
          </a:xfrm>
          <a:prstGeom prst="rect">
            <a:avLst/>
          </a:prstGeom>
        </p:spPr>
      </p:pic>
      <p:sp>
        <p:nvSpPr>
          <p:cNvPr id="5" name="Retângulo 4">
            <a:extLst>
              <a:ext uri="{FF2B5EF4-FFF2-40B4-BE49-F238E27FC236}">
                <a16:creationId xmlns:a16="http://schemas.microsoft.com/office/drawing/2014/main" id="{1EAE2E10-0BCA-43F3-9B53-6DA6C8F0B4D8}"/>
              </a:ext>
            </a:extLst>
          </p:cNvPr>
          <p:cNvSpPr/>
          <p:nvPr/>
        </p:nvSpPr>
        <p:spPr>
          <a:xfrm>
            <a:off x="1282823" y="4606062"/>
            <a:ext cx="6920144" cy="707886"/>
          </a:xfrm>
          <a:prstGeom prst="rect">
            <a:avLst/>
          </a:prstGeom>
        </p:spPr>
        <p:txBody>
          <a:bodyPr wrap="square">
            <a:spAutoFit/>
          </a:bodyPr>
          <a:lstStyle/>
          <a:p>
            <a:pPr algn="just"/>
            <a:r>
              <a:rPr lang="pt-BR" sz="2000" dirty="0">
                <a:latin typeface="Arial" panose="020B0604020202020204" pitchFamily="34" charset="0"/>
                <a:cs typeface="Arial" panose="020B0604020202020204" pitchFamily="34" charset="0"/>
              </a:rPr>
              <a:t>Um departamento possuí vários funcionários, porém um funcionário possuí apenas um departamento.</a:t>
            </a:r>
          </a:p>
        </p:txBody>
      </p:sp>
    </p:spTree>
    <p:extLst>
      <p:ext uri="{BB962C8B-B14F-4D97-AF65-F5344CB8AC3E}">
        <p14:creationId xmlns:p14="http://schemas.microsoft.com/office/powerpoint/2010/main" val="4175899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t>Relações – 1:N</a:t>
            </a:r>
          </a:p>
        </p:txBody>
      </p:sp>
      <p:sp>
        <p:nvSpPr>
          <p:cNvPr id="5" name="Retângulo 4">
            <a:extLst>
              <a:ext uri="{FF2B5EF4-FFF2-40B4-BE49-F238E27FC236}">
                <a16:creationId xmlns:a16="http://schemas.microsoft.com/office/drawing/2014/main" id="{1EAE2E10-0BCA-43F3-9B53-6DA6C8F0B4D8}"/>
              </a:ext>
            </a:extLst>
          </p:cNvPr>
          <p:cNvSpPr/>
          <p:nvPr/>
        </p:nvSpPr>
        <p:spPr>
          <a:xfrm>
            <a:off x="1282823" y="4606062"/>
            <a:ext cx="6920144" cy="707886"/>
          </a:xfrm>
          <a:prstGeom prst="rect">
            <a:avLst/>
          </a:prstGeom>
        </p:spPr>
        <p:txBody>
          <a:bodyPr wrap="square">
            <a:spAutoFit/>
          </a:bodyPr>
          <a:lstStyle/>
          <a:p>
            <a:pPr algn="just"/>
            <a:r>
              <a:rPr lang="pt-BR" sz="2000" dirty="0">
                <a:latin typeface="Arial" panose="020B0604020202020204" pitchFamily="34" charset="0"/>
                <a:cs typeface="Arial" panose="020B0604020202020204" pitchFamily="34" charset="0"/>
              </a:rPr>
              <a:t>Uma marca possuí vários produtos, porém um produto pertence a apenas uma marca.</a:t>
            </a:r>
          </a:p>
        </p:txBody>
      </p:sp>
      <p:pic>
        <p:nvPicPr>
          <p:cNvPr id="7" name="Espaço Reservado para Conteúdo 6" descr="Tela de celular com texto preto sobre fundo branco&#10;&#10;Descrição gerada automaticamente">
            <a:extLst>
              <a:ext uri="{FF2B5EF4-FFF2-40B4-BE49-F238E27FC236}">
                <a16:creationId xmlns:a16="http://schemas.microsoft.com/office/drawing/2014/main" id="{B5AF5EAF-7933-4E22-BF62-F36CADEF55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9410" y="1522807"/>
            <a:ext cx="6502734" cy="2692538"/>
          </a:xfrm>
          <a:prstGeom prst="rect">
            <a:avLst/>
          </a:prstGeom>
        </p:spPr>
      </p:pic>
    </p:spTree>
    <p:extLst>
      <p:ext uri="{BB962C8B-B14F-4D97-AF65-F5344CB8AC3E}">
        <p14:creationId xmlns:p14="http://schemas.microsoft.com/office/powerpoint/2010/main" val="3237664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t>Relações – N:N</a:t>
            </a:r>
          </a:p>
        </p:txBody>
      </p:sp>
      <p:sp>
        <p:nvSpPr>
          <p:cNvPr id="4" name="Espaço Reservado para Conteúdo 3">
            <a:extLst>
              <a:ext uri="{FF2B5EF4-FFF2-40B4-BE49-F238E27FC236}">
                <a16:creationId xmlns:a16="http://schemas.microsoft.com/office/drawing/2014/main" id="{99BE2160-F47D-4DA1-BC4D-A69B63A0642D}"/>
              </a:ext>
            </a:extLst>
          </p:cNvPr>
          <p:cNvSpPr>
            <a:spLocks noGrp="1"/>
          </p:cNvSpPr>
          <p:nvPr>
            <p:ph idx="1"/>
          </p:nvPr>
        </p:nvSpPr>
        <p:spPr/>
        <p:txBody>
          <a:bodyPr/>
          <a:lstStyle/>
          <a:p>
            <a:r>
              <a:rPr lang="pt-BR" sz="2000" dirty="0">
                <a:latin typeface="Arial" panose="020B0604020202020204" pitchFamily="34" charset="0"/>
                <a:cs typeface="Arial" panose="020B0604020202020204" pitchFamily="34" charset="0"/>
              </a:rPr>
              <a:t>Os relacionamentos do tipo N:N (muitos para muitos) ocorrem quando vários registros de uma tabela se relacionam a vários registros de outra. Ou seja, em nenhum dos lados há exclusividade no relacionamento.</a:t>
            </a:r>
          </a:p>
          <a:p>
            <a:endParaRPr lang="pt-BR" sz="2000" dirty="0">
              <a:latin typeface="Arial" panose="020B0604020202020204" pitchFamily="34" charset="0"/>
              <a:cs typeface="Arial" panose="020B0604020202020204" pitchFamily="34" charset="0"/>
            </a:endParaRPr>
          </a:p>
          <a:p>
            <a:r>
              <a:rPr lang="pt-BR" sz="2000" dirty="0">
                <a:latin typeface="Arial" panose="020B0604020202020204" pitchFamily="34" charset="0"/>
                <a:cs typeface="Arial" panose="020B0604020202020204" pitchFamily="34" charset="0"/>
              </a:rPr>
              <a:t>Diferente do que ocorre no 1:N, nessas situações não é possível que uma tabela tenha uma referência direta à outra, pois isso indicaria que cada registro está relacionado unicamente a um da outra tabela.</a:t>
            </a:r>
          </a:p>
          <a:p>
            <a:endParaRPr lang="pt-BR" dirty="0">
              <a:latin typeface="Arial" panose="020B0604020202020204" pitchFamily="34" charset="0"/>
              <a:cs typeface="Arial" panose="020B0604020202020204" pitchFamily="34" charset="0"/>
            </a:endParaRPr>
          </a:p>
          <a:p>
            <a:endParaRPr lang="pt-BR" dirty="0"/>
          </a:p>
        </p:txBody>
      </p:sp>
    </p:spTree>
    <p:extLst>
      <p:ext uri="{BB962C8B-B14F-4D97-AF65-F5344CB8AC3E}">
        <p14:creationId xmlns:p14="http://schemas.microsoft.com/office/powerpoint/2010/main" val="3255953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t>Relações – N:N</a:t>
            </a:r>
          </a:p>
        </p:txBody>
      </p:sp>
      <p:pic>
        <p:nvPicPr>
          <p:cNvPr id="6" name="Espaço Reservado para Conteúdo 5" descr="Texto preto sobre fundo branco&#10;&#10;Descrição gerada automaticamente">
            <a:extLst>
              <a:ext uri="{FF2B5EF4-FFF2-40B4-BE49-F238E27FC236}">
                <a16:creationId xmlns:a16="http://schemas.microsoft.com/office/drawing/2014/main" id="{04091379-1311-4737-A2B7-B5D0FB878E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49" y="2118682"/>
            <a:ext cx="7886700" cy="2317531"/>
          </a:xfrm>
          <a:prstGeom prst="rect">
            <a:avLst/>
          </a:prstGeom>
        </p:spPr>
      </p:pic>
      <p:sp>
        <p:nvSpPr>
          <p:cNvPr id="7" name="Retângulo 6">
            <a:extLst>
              <a:ext uri="{FF2B5EF4-FFF2-40B4-BE49-F238E27FC236}">
                <a16:creationId xmlns:a16="http://schemas.microsoft.com/office/drawing/2014/main" id="{C7897A49-8AFC-4DA4-8286-B248B547362E}"/>
              </a:ext>
            </a:extLst>
          </p:cNvPr>
          <p:cNvSpPr/>
          <p:nvPr/>
        </p:nvSpPr>
        <p:spPr>
          <a:xfrm>
            <a:off x="989860" y="4927488"/>
            <a:ext cx="6920144" cy="707886"/>
          </a:xfrm>
          <a:prstGeom prst="rect">
            <a:avLst/>
          </a:prstGeom>
        </p:spPr>
        <p:txBody>
          <a:bodyPr wrap="square">
            <a:spAutoFit/>
          </a:bodyPr>
          <a:lstStyle/>
          <a:p>
            <a:pPr algn="just"/>
            <a:r>
              <a:rPr lang="pt-BR" sz="2000" dirty="0">
                <a:latin typeface="Arial" panose="020B0604020202020204" pitchFamily="34" charset="0"/>
                <a:cs typeface="Arial" panose="020B0604020202020204" pitchFamily="34" charset="0"/>
              </a:rPr>
              <a:t>Um filme pode ter vários atores e um ator pode participar de vários filmes.</a:t>
            </a:r>
          </a:p>
        </p:txBody>
      </p:sp>
    </p:spTree>
    <p:extLst>
      <p:ext uri="{BB962C8B-B14F-4D97-AF65-F5344CB8AC3E}">
        <p14:creationId xmlns:p14="http://schemas.microsoft.com/office/powerpoint/2010/main" val="3024188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t>Relações – N:N</a:t>
            </a:r>
          </a:p>
        </p:txBody>
      </p:sp>
      <p:sp>
        <p:nvSpPr>
          <p:cNvPr id="7" name="Retângulo 6">
            <a:extLst>
              <a:ext uri="{FF2B5EF4-FFF2-40B4-BE49-F238E27FC236}">
                <a16:creationId xmlns:a16="http://schemas.microsoft.com/office/drawing/2014/main" id="{C7897A49-8AFC-4DA4-8286-B248B547362E}"/>
              </a:ext>
            </a:extLst>
          </p:cNvPr>
          <p:cNvSpPr/>
          <p:nvPr/>
        </p:nvSpPr>
        <p:spPr>
          <a:xfrm>
            <a:off x="989860" y="4927488"/>
            <a:ext cx="6920144" cy="707886"/>
          </a:xfrm>
          <a:prstGeom prst="rect">
            <a:avLst/>
          </a:prstGeom>
        </p:spPr>
        <p:txBody>
          <a:bodyPr wrap="square">
            <a:spAutoFit/>
          </a:bodyPr>
          <a:lstStyle/>
          <a:p>
            <a:pPr algn="just"/>
            <a:r>
              <a:rPr lang="pt-BR" sz="2000" dirty="0">
                <a:latin typeface="Arial" panose="020B0604020202020204" pitchFamily="34" charset="0"/>
                <a:cs typeface="Arial" panose="020B0604020202020204" pitchFamily="34" charset="0"/>
              </a:rPr>
              <a:t>Um produto pode pertencer a várias categorias e uma categoria pode conter vários produtos.</a:t>
            </a:r>
          </a:p>
        </p:txBody>
      </p:sp>
      <p:pic>
        <p:nvPicPr>
          <p:cNvPr id="9" name="Espaço Reservado para Conteúdo 8" descr="Texto preto sobre fundo branco&#10;&#10;Descrição gerada automaticamente">
            <a:extLst>
              <a:ext uri="{FF2B5EF4-FFF2-40B4-BE49-F238E27FC236}">
                <a16:creationId xmlns:a16="http://schemas.microsoft.com/office/drawing/2014/main" id="{254C1E99-D9FA-4D0D-A278-DD6916EA11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1930512"/>
            <a:ext cx="7886700" cy="2526115"/>
          </a:xfrm>
          <a:prstGeom prst="rect">
            <a:avLst/>
          </a:prstGeom>
        </p:spPr>
      </p:pic>
    </p:spTree>
    <p:extLst>
      <p:ext uri="{BB962C8B-B14F-4D97-AF65-F5344CB8AC3E}">
        <p14:creationId xmlns:p14="http://schemas.microsoft.com/office/powerpoint/2010/main" val="8819185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t>Relações – N:N</a:t>
            </a:r>
          </a:p>
        </p:txBody>
      </p:sp>
      <p:sp>
        <p:nvSpPr>
          <p:cNvPr id="7" name="Retângulo 6">
            <a:extLst>
              <a:ext uri="{FF2B5EF4-FFF2-40B4-BE49-F238E27FC236}">
                <a16:creationId xmlns:a16="http://schemas.microsoft.com/office/drawing/2014/main" id="{C7897A49-8AFC-4DA4-8286-B248B547362E}"/>
              </a:ext>
            </a:extLst>
          </p:cNvPr>
          <p:cNvSpPr/>
          <p:nvPr/>
        </p:nvSpPr>
        <p:spPr>
          <a:xfrm>
            <a:off x="989860" y="4927488"/>
            <a:ext cx="6920144" cy="707886"/>
          </a:xfrm>
          <a:prstGeom prst="rect">
            <a:avLst/>
          </a:prstGeom>
        </p:spPr>
        <p:txBody>
          <a:bodyPr wrap="square">
            <a:spAutoFit/>
          </a:bodyPr>
          <a:lstStyle/>
          <a:p>
            <a:pPr algn="just"/>
            <a:r>
              <a:rPr lang="pt-BR" sz="2000" dirty="0">
                <a:latin typeface="Arial" panose="020B0604020202020204" pitchFamily="34" charset="0"/>
                <a:cs typeface="Arial" panose="020B0604020202020204" pitchFamily="34" charset="0"/>
              </a:rPr>
              <a:t>Um livro pode ter vários autores e um mesmo autor pode produzir vários livros.</a:t>
            </a:r>
          </a:p>
        </p:txBody>
      </p:sp>
      <p:pic>
        <p:nvPicPr>
          <p:cNvPr id="8" name="Espaço Reservado para Conteúdo 7" descr="Texto preto sobre fundo branco&#10;&#10;Descrição gerada automaticamente">
            <a:extLst>
              <a:ext uri="{FF2B5EF4-FFF2-40B4-BE49-F238E27FC236}">
                <a16:creationId xmlns:a16="http://schemas.microsoft.com/office/drawing/2014/main" id="{774BEA44-16C4-41CF-AA78-5E8C1E8BBF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49" y="1930512"/>
            <a:ext cx="7886700" cy="2362430"/>
          </a:xfrm>
          <a:prstGeom prst="rect">
            <a:avLst/>
          </a:prstGeom>
        </p:spPr>
      </p:pic>
    </p:spTree>
    <p:extLst>
      <p:ext uri="{BB962C8B-B14F-4D97-AF65-F5344CB8AC3E}">
        <p14:creationId xmlns:p14="http://schemas.microsoft.com/office/powerpoint/2010/main" val="4093937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t>Relações – N:N</a:t>
            </a:r>
          </a:p>
        </p:txBody>
      </p:sp>
      <p:sp>
        <p:nvSpPr>
          <p:cNvPr id="7" name="Retângulo 6">
            <a:extLst>
              <a:ext uri="{FF2B5EF4-FFF2-40B4-BE49-F238E27FC236}">
                <a16:creationId xmlns:a16="http://schemas.microsoft.com/office/drawing/2014/main" id="{C7897A49-8AFC-4DA4-8286-B248B547362E}"/>
              </a:ext>
            </a:extLst>
          </p:cNvPr>
          <p:cNvSpPr/>
          <p:nvPr/>
        </p:nvSpPr>
        <p:spPr>
          <a:xfrm>
            <a:off x="989860" y="4927488"/>
            <a:ext cx="6920144" cy="707886"/>
          </a:xfrm>
          <a:prstGeom prst="rect">
            <a:avLst/>
          </a:prstGeom>
        </p:spPr>
        <p:txBody>
          <a:bodyPr wrap="square">
            <a:spAutoFit/>
          </a:bodyPr>
          <a:lstStyle/>
          <a:p>
            <a:pPr algn="just"/>
            <a:r>
              <a:rPr lang="pt-BR" sz="2000" dirty="0">
                <a:latin typeface="Arial" panose="020B0604020202020204" pitchFamily="34" charset="0"/>
                <a:cs typeface="Arial" panose="020B0604020202020204" pitchFamily="34" charset="0"/>
              </a:rPr>
              <a:t>Há casos também em que a tabela intermediária pode ter dados adicionais, além das chaves estrangeiras.</a:t>
            </a:r>
          </a:p>
        </p:txBody>
      </p:sp>
      <p:pic>
        <p:nvPicPr>
          <p:cNvPr id="9" name="Espaço Reservado para Conteúdo 8" descr="Texto preto sobre fundo branco&#10;&#10;Descrição gerada automaticamente">
            <a:extLst>
              <a:ext uri="{FF2B5EF4-FFF2-40B4-BE49-F238E27FC236}">
                <a16:creationId xmlns:a16="http://schemas.microsoft.com/office/drawing/2014/main" id="{54D57F81-A73A-49C7-AB36-14DAD2EE63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1510" y="1930512"/>
            <a:ext cx="7340977" cy="2362321"/>
          </a:xfrm>
          <a:prstGeom prst="rect">
            <a:avLst/>
          </a:prstGeom>
        </p:spPr>
      </p:pic>
    </p:spTree>
    <p:extLst>
      <p:ext uri="{BB962C8B-B14F-4D97-AF65-F5344CB8AC3E}">
        <p14:creationId xmlns:p14="http://schemas.microsoft.com/office/powerpoint/2010/main" val="250649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27894D9-1957-4B46-90E5-9CA4EC54FE96}"/>
              </a:ext>
            </a:extLst>
          </p:cNvPr>
          <p:cNvSpPr>
            <a:spLocks noGrp="1"/>
          </p:cNvSpPr>
          <p:nvPr>
            <p:ph type="body" sz="quarter" idx="13"/>
          </p:nvPr>
        </p:nvSpPr>
        <p:spPr/>
        <p:txBody>
          <a:bodyPr>
            <a:normAutofit lnSpcReduction="10000"/>
          </a:bodyPr>
          <a:lstStyle/>
          <a:p>
            <a:r>
              <a:rPr lang="pt-BR" dirty="0"/>
              <a:t>Relações – N:N</a:t>
            </a:r>
          </a:p>
        </p:txBody>
      </p:sp>
      <p:sp>
        <p:nvSpPr>
          <p:cNvPr id="4" name="Espaço Reservado para Conteúdo 3">
            <a:extLst>
              <a:ext uri="{FF2B5EF4-FFF2-40B4-BE49-F238E27FC236}">
                <a16:creationId xmlns:a16="http://schemas.microsoft.com/office/drawing/2014/main" id="{99BE2160-F47D-4DA1-BC4D-A69B63A0642D}"/>
              </a:ext>
            </a:extLst>
          </p:cNvPr>
          <p:cNvSpPr>
            <a:spLocks noGrp="1"/>
          </p:cNvSpPr>
          <p:nvPr>
            <p:ph idx="1"/>
          </p:nvPr>
        </p:nvSpPr>
        <p:spPr/>
        <p:txBody>
          <a:bodyPr/>
          <a:lstStyle/>
          <a:p>
            <a:r>
              <a:rPr lang="pt-BR" sz="2000" dirty="0">
                <a:latin typeface="Arial" panose="020B0604020202020204" pitchFamily="34" charset="0"/>
                <a:cs typeface="Arial" panose="020B0604020202020204" pitchFamily="34" charset="0"/>
              </a:rPr>
              <a:t>Esses dois tipos de relacionamento são muito comuns e às vezes podem ser confundidos, o que pode causar problemas no futuro. Por exemplo, imagine que no momento da modelagem do sistema a relação entre produtos e categorias foi modelada como 1:N, em que um produto só pertencia a uma categoria. Mais à frente viu-se a necessidade de vincular um mesmo produto a várias categorias e o sistema não suportava essa situação.</a:t>
            </a:r>
          </a:p>
          <a:p>
            <a:endParaRPr lang="pt-BR" dirty="0"/>
          </a:p>
        </p:txBody>
      </p:sp>
    </p:spTree>
    <p:extLst>
      <p:ext uri="{BB962C8B-B14F-4D97-AF65-F5344CB8AC3E}">
        <p14:creationId xmlns:p14="http://schemas.microsoft.com/office/powerpoint/2010/main" val="1306682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sz="quarter" idx="16"/>
          </p:nvPr>
        </p:nvSpPr>
        <p:spPr/>
        <p:txBody>
          <a:bodyPr/>
          <a:lstStyle/>
          <a:p>
            <a:r>
              <a:rPr lang="pt-BR" dirty="0"/>
              <a:t>bis </a:t>
            </a:r>
            <a:r>
              <a:rPr lang="pt-BR" dirty="0" err="1"/>
              <a:t>später</a:t>
            </a:r>
            <a:endParaRPr lang="pt-BR" dirty="0"/>
          </a:p>
        </p:txBody>
      </p:sp>
    </p:spTree>
    <p:extLst>
      <p:ext uri="{BB962C8B-B14F-4D97-AF65-F5344CB8AC3E}">
        <p14:creationId xmlns:p14="http://schemas.microsoft.com/office/powerpoint/2010/main" val="4189596411"/>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1C0BDCB75C490F449996D271113E7085" ma:contentTypeVersion="12" ma:contentTypeDescription="Crie um novo documento." ma:contentTypeScope="" ma:versionID="f78031fe7deaa61be8293be56c3571d3">
  <xsd:schema xmlns:xsd="http://www.w3.org/2001/XMLSchema" xmlns:xs="http://www.w3.org/2001/XMLSchema" xmlns:p="http://schemas.microsoft.com/office/2006/metadata/properties" xmlns:ns2="56135199-fddc-46f9-8522-4d2f2df906d6" xmlns:ns3="616ddcb6-37a4-4b68-9e62-eadd2126515b" targetNamespace="http://schemas.microsoft.com/office/2006/metadata/properties" ma:root="true" ma:fieldsID="84b82f449ed318020166b0b852c53661" ns2:_="" ns3:_="">
    <xsd:import namespace="56135199-fddc-46f9-8522-4d2f2df906d6"/>
    <xsd:import namespace="616ddcb6-37a4-4b68-9e62-eadd2126515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Locatio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135199-fddc-46f9-8522-4d2f2df906d6"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6ddcb6-37a4-4b68-9e62-eadd2126515b" elementFormDefault="qualified">
    <xsd:import namespace="http://schemas.microsoft.com/office/2006/documentManagement/types"/>
    <xsd:import namespace="http://schemas.microsoft.com/office/infopath/2007/PartnerControls"/>
    <xsd:element name="SharedWithUsers" ma:index="10" nillable="true" ma:displayName="Compartilhado com"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hes de Compartilhado Com" ma:descrip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598036D-8F24-4150-8883-4040B39D685E}">
  <ds:schemaRefs>
    <ds:schemaRef ds:uri="http://schemas.microsoft.com/office/2006/documentManagement/types"/>
    <ds:schemaRef ds:uri="http://purl.org/dc/dcmitype/"/>
    <ds:schemaRef ds:uri="56135199-fddc-46f9-8522-4d2f2df906d6"/>
    <ds:schemaRef ds:uri="http://schemas.microsoft.com/office/2006/metadata/properties"/>
    <ds:schemaRef ds:uri="616ddcb6-37a4-4b68-9e62-eadd2126515b"/>
    <ds:schemaRef ds:uri="http://schemas.microsoft.com/office/infopath/2007/PartnerControls"/>
    <ds:schemaRef ds:uri="http://schemas.openxmlformats.org/package/2006/metadata/core-properties"/>
    <ds:schemaRef ds:uri="http://purl.org/dc/terms/"/>
    <ds:schemaRef ds:uri="http://www.w3.org/XML/1998/namespace"/>
    <ds:schemaRef ds:uri="http://purl.org/dc/elements/1.1/"/>
  </ds:schemaRefs>
</ds:datastoreItem>
</file>

<file path=customXml/itemProps2.xml><?xml version="1.0" encoding="utf-8"?>
<ds:datastoreItem xmlns:ds="http://schemas.openxmlformats.org/officeDocument/2006/customXml" ds:itemID="{DD46F767-487D-45A7-9383-4F9F295212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6135199-fddc-46f9-8522-4d2f2df906d6"/>
    <ds:schemaRef ds:uri="616ddcb6-37a4-4b68-9e62-eadd212651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AEFDE86-9ABD-4B53-9EB0-611E071024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1405</TotalTime>
  <Words>1161</Words>
  <Application>Microsoft Office PowerPoint</Application>
  <PresentationFormat>Apresentação na tela (4:3)</PresentationFormat>
  <Paragraphs>89</Paragraphs>
  <Slides>29</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29</vt:i4>
      </vt:variant>
    </vt:vector>
  </HeadingPairs>
  <TitlesOfParts>
    <vt:vector size="34" baseType="lpstr">
      <vt:lpstr>Arial</vt:lpstr>
      <vt:lpstr>Calibri</vt:lpstr>
      <vt:lpstr>Calibri Light</vt:lpstr>
      <vt:lpstr>Montserrat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SESI SENAI SP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Lucas Jorge da Silva</dc:creator>
  <cp:lastModifiedBy>Caique Zaneti Kirilo</cp:lastModifiedBy>
  <cp:revision>28</cp:revision>
  <dcterms:created xsi:type="dcterms:W3CDTF">2019-02-19T13:22:14Z</dcterms:created>
  <dcterms:modified xsi:type="dcterms:W3CDTF">2021-01-27T12:53:42Z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0x0101001C0BDCB75C490F449996D271113E7085</vt:lpwstr>
  </property>
</Properties>
</file>